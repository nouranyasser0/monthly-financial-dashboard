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Karnchang SemiCondensed Bold" panose="020B0604020202020204" charset="-34"/>
      <p:regular r:id="rId12"/>
    </p:embeddedFont>
    <p:embeddedFont>
      <p:font typeface="Quark" panose="020B0604020202020204" charset="0"/>
      <p:regular r:id="rId13"/>
    </p:embeddedFont>
    <p:embeddedFont>
      <p:font typeface="Quark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2701348" y="6961668"/>
            <a:ext cx="4815191" cy="4114800"/>
          </a:xfrm>
          <a:custGeom>
            <a:avLst/>
            <a:gdLst/>
            <a:ahLst/>
            <a:cxnLst/>
            <a:rect l="l" t="t" r="r" b="b"/>
            <a:pathLst>
              <a:path w="4815191" h="4114800">
                <a:moveTo>
                  <a:pt x="0" y="0"/>
                </a:moveTo>
                <a:lnTo>
                  <a:pt x="4815192" y="0"/>
                </a:lnTo>
                <a:lnTo>
                  <a:pt x="48151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6042557" y="-380448"/>
            <a:ext cx="3086100" cy="7022063"/>
            <a:chOff x="0" y="0"/>
            <a:chExt cx="812800" cy="1849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42557" y="-3396291"/>
            <a:ext cx="3086100" cy="6792583"/>
            <a:chOff x="0" y="0"/>
            <a:chExt cx="812800" cy="17889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E4FFC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65436" y="666750"/>
            <a:ext cx="11549217" cy="378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12"/>
              </a:lnSpc>
            </a:pPr>
            <a:r>
              <a:rPr lang="en-US" sz="12190" b="1">
                <a:solidFill>
                  <a:srgbClr val="2E6417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Monthly Financial Dashboard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65436" y="4392930"/>
            <a:ext cx="8653460" cy="90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OLIST E-COMMERCE DATASET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259300" y="-380448"/>
            <a:ext cx="3086100" cy="7022063"/>
            <a:chOff x="0" y="0"/>
            <a:chExt cx="812800" cy="184943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259300" y="-3396291"/>
            <a:ext cx="3086100" cy="6792583"/>
            <a:chOff x="0" y="0"/>
            <a:chExt cx="812800" cy="17889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65436" y="2388651"/>
            <a:ext cx="15063891" cy="684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33"/>
              </a:lnSpc>
            </a:pPr>
            <a:r>
              <a:rPr lang="en-US" sz="4098" b="1">
                <a:solidFill>
                  <a:srgbClr val="2E6417"/>
                </a:solidFill>
                <a:latin typeface="Quark Bold"/>
                <a:ea typeface="Quark Bold"/>
                <a:cs typeface="Quark Bold"/>
                <a:sym typeface="Quark Bold"/>
              </a:rPr>
              <a:t>Objective</a:t>
            </a:r>
            <a:r>
              <a:rPr lang="en-US" sz="4098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:</a:t>
            </a:r>
          </a:p>
          <a:p>
            <a:pPr algn="just">
              <a:lnSpc>
                <a:spcPts val="5177"/>
              </a:lnSpc>
            </a:pPr>
            <a:r>
              <a:rPr lang="en-US" sz="3298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The goal of this project is to analyze monthly financial performance and delivery operations using the Olist E-Commerce datase</a:t>
            </a:r>
          </a:p>
          <a:p>
            <a:pPr algn="just">
              <a:lnSpc>
                <a:spcPts val="6276"/>
              </a:lnSpc>
            </a:pPr>
            <a:r>
              <a:rPr lang="en-US" sz="3998" b="1">
                <a:solidFill>
                  <a:srgbClr val="2E6417"/>
                </a:solidFill>
                <a:latin typeface="Quark Bold"/>
                <a:ea typeface="Quark Bold"/>
                <a:cs typeface="Quark Bold"/>
                <a:sym typeface="Quark Bold"/>
              </a:rPr>
              <a:t>Key Business Questions:</a:t>
            </a:r>
          </a:p>
          <a:p>
            <a:pPr marL="712049" lvl="1" indent="-356024" algn="just">
              <a:lnSpc>
                <a:spcPts val="5177"/>
              </a:lnSpc>
              <a:buFont typeface="Arial"/>
              <a:buChar char="•"/>
            </a:pPr>
            <a:r>
              <a:rPr lang="en-US" sz="3298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What is the total revenue generated?</a:t>
            </a:r>
          </a:p>
          <a:p>
            <a:pPr marL="712049" lvl="1" indent="-356024" algn="just">
              <a:lnSpc>
                <a:spcPts val="5177"/>
              </a:lnSpc>
              <a:buFont typeface="Arial"/>
              <a:buChar char="•"/>
            </a:pPr>
            <a:r>
              <a:rPr lang="en-US" sz="3298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How do actual revenues compare to expected revenues?</a:t>
            </a:r>
          </a:p>
          <a:p>
            <a:pPr marL="712049" lvl="1" indent="-356024" algn="just">
              <a:lnSpc>
                <a:spcPts val="5177"/>
              </a:lnSpc>
              <a:buFont typeface="Arial"/>
              <a:buChar char="•"/>
            </a:pPr>
            <a:r>
              <a:rPr lang="en-US" sz="3298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What are the monthly order trends?</a:t>
            </a:r>
          </a:p>
          <a:p>
            <a:pPr marL="712049" lvl="1" indent="-356024" algn="just">
              <a:lnSpc>
                <a:spcPts val="5177"/>
              </a:lnSpc>
              <a:buFont typeface="Arial"/>
              <a:buChar char="•"/>
            </a:pPr>
            <a:r>
              <a:rPr lang="en-US" sz="3298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How efficient is the delivery process?</a:t>
            </a:r>
          </a:p>
          <a:p>
            <a:pPr marL="712049" lvl="1" indent="-356024" algn="just">
              <a:lnSpc>
                <a:spcPts val="5177"/>
              </a:lnSpc>
              <a:buFont typeface="Arial"/>
              <a:buChar char="•"/>
            </a:pPr>
            <a:r>
              <a:rPr lang="en-US" sz="3298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What are the main order statuses?</a:t>
            </a:r>
          </a:p>
          <a:p>
            <a:pPr algn="just">
              <a:lnSpc>
                <a:spcPts val="5177"/>
              </a:lnSpc>
            </a:pPr>
            <a:endParaRPr lang="en-US" sz="3298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2E641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2732613" y="6172200"/>
            <a:ext cx="4183253" cy="4114800"/>
          </a:xfrm>
          <a:custGeom>
            <a:avLst/>
            <a:gdLst/>
            <a:ahLst/>
            <a:cxnLst/>
            <a:rect l="l" t="t" r="r" b="b"/>
            <a:pathLst>
              <a:path w="4183253" h="4114800">
                <a:moveTo>
                  <a:pt x="0" y="0"/>
                </a:moveTo>
                <a:lnTo>
                  <a:pt x="4183253" y="0"/>
                </a:lnTo>
                <a:lnTo>
                  <a:pt x="41832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65436" y="850989"/>
            <a:ext cx="8177067" cy="1440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2E6417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65436" y="2420212"/>
            <a:ext cx="5887565" cy="2310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68"/>
              </a:lnSpc>
            </a:pPr>
            <a:r>
              <a:rPr lang="en-US" sz="3549" b="1">
                <a:solidFill>
                  <a:srgbClr val="2E6417"/>
                </a:solidFill>
                <a:latin typeface="Quark Bold"/>
                <a:ea typeface="Quark Bold"/>
                <a:cs typeface="Quark Bold"/>
                <a:sym typeface="Quark Bold"/>
              </a:rPr>
              <a:t>Data Sources:</a:t>
            </a:r>
          </a:p>
          <a:p>
            <a:pPr marL="688618" lvl="1" indent="-344309" algn="l">
              <a:lnSpc>
                <a:spcPts val="4465"/>
              </a:lnSpc>
              <a:buFont typeface="Arial"/>
              <a:buChar char="•"/>
            </a:pPr>
            <a:r>
              <a:rPr lang="en-US" sz="3189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Orders Dataset</a:t>
            </a:r>
          </a:p>
          <a:p>
            <a:pPr marL="688618" lvl="1" indent="-344309" algn="l">
              <a:lnSpc>
                <a:spcPts val="4465"/>
              </a:lnSpc>
              <a:buFont typeface="Arial"/>
              <a:buChar char="•"/>
            </a:pPr>
            <a:r>
              <a:rPr lang="en-US" sz="3189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Order Items Dataset</a:t>
            </a:r>
          </a:p>
          <a:p>
            <a:pPr marL="688618" lvl="1" indent="-344309" algn="l">
              <a:lnSpc>
                <a:spcPts val="4465"/>
              </a:lnSpc>
              <a:buFont typeface="Arial"/>
              <a:buChar char="•"/>
            </a:pPr>
            <a:r>
              <a:rPr lang="en-US" sz="3189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Order Payments Dataset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2E641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flipH="1">
            <a:off x="13457650" y="7094529"/>
            <a:ext cx="4153777" cy="2673522"/>
          </a:xfrm>
          <a:custGeom>
            <a:avLst/>
            <a:gdLst/>
            <a:ahLst/>
            <a:cxnLst/>
            <a:rect l="l" t="t" r="r" b="b"/>
            <a:pathLst>
              <a:path w="4153777" h="2673522">
                <a:moveTo>
                  <a:pt x="4153777" y="0"/>
                </a:moveTo>
                <a:lnTo>
                  <a:pt x="0" y="0"/>
                </a:lnTo>
                <a:lnTo>
                  <a:pt x="0" y="2673522"/>
                </a:lnTo>
                <a:lnTo>
                  <a:pt x="4153777" y="2673522"/>
                </a:lnTo>
                <a:lnTo>
                  <a:pt x="41537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65436" y="850989"/>
            <a:ext cx="9131534" cy="1440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2E6417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Data Preparation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5436" y="4845034"/>
            <a:ext cx="11500890" cy="4555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24"/>
              </a:lnSpc>
            </a:pPr>
            <a:r>
              <a:rPr lang="en-US" sz="3517" b="1">
                <a:solidFill>
                  <a:srgbClr val="2E6417"/>
                </a:solidFill>
                <a:latin typeface="Quark Bold"/>
                <a:ea typeface="Quark Bold"/>
                <a:cs typeface="Quark Bold"/>
                <a:sym typeface="Quark Bold"/>
              </a:rPr>
              <a:t>Data Cleaning &amp; Transformation:</a:t>
            </a:r>
          </a:p>
          <a:p>
            <a:pPr marL="684656" lvl="1" indent="-342328" algn="l">
              <a:lnSpc>
                <a:spcPts val="4439"/>
              </a:lnSpc>
              <a:buFont typeface="Arial"/>
              <a:buChar char="•"/>
            </a:pPr>
            <a:r>
              <a:rPr lang="en-US" sz="3171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Removed duplicates</a:t>
            </a:r>
          </a:p>
          <a:p>
            <a:pPr marL="684656" lvl="1" indent="-342328" algn="l">
              <a:lnSpc>
                <a:spcPts val="4439"/>
              </a:lnSpc>
              <a:buFont typeface="Arial"/>
              <a:buChar char="•"/>
            </a:pPr>
            <a:r>
              <a:rPr lang="en-US" sz="3171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Handled missing values</a:t>
            </a:r>
          </a:p>
          <a:p>
            <a:pPr marL="684656" lvl="1" indent="-342328" algn="l">
              <a:lnSpc>
                <a:spcPts val="4439"/>
              </a:lnSpc>
              <a:buFont typeface="Arial"/>
              <a:buChar char="•"/>
            </a:pPr>
            <a:r>
              <a:rPr lang="en-US" sz="3171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Created calculated columns</a:t>
            </a:r>
          </a:p>
          <a:p>
            <a:pPr marL="684656" lvl="1" indent="-342328" algn="l">
              <a:lnSpc>
                <a:spcPts val="4439"/>
              </a:lnSpc>
              <a:buFont typeface="Arial"/>
              <a:buChar char="•"/>
            </a:pPr>
            <a:r>
              <a:rPr lang="en-US" sz="3171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Built Payment Status</a:t>
            </a:r>
          </a:p>
          <a:p>
            <a:pPr marL="706246" lvl="1" indent="-353123" algn="l">
              <a:lnSpc>
                <a:spcPts val="4579"/>
              </a:lnSpc>
              <a:buFont typeface="Arial"/>
              <a:buChar char="•"/>
            </a:pPr>
            <a:r>
              <a:rPr lang="en-US" sz="3271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Calculated Delay Days</a:t>
            </a:r>
          </a:p>
          <a:p>
            <a:pPr marL="684656" lvl="1" indent="-342328" algn="l">
              <a:lnSpc>
                <a:spcPts val="4439"/>
              </a:lnSpc>
              <a:buFont typeface="Arial"/>
              <a:buChar char="•"/>
            </a:pPr>
            <a:r>
              <a:rPr lang="en-US" sz="3171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Created aggregated tables (ItemsNew &amp; PaymentsNew)</a:t>
            </a:r>
          </a:p>
          <a:p>
            <a:pPr algn="l">
              <a:lnSpc>
                <a:spcPts val="4299"/>
              </a:lnSpc>
            </a:pPr>
            <a:endParaRPr lang="en-US" sz="3171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6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F0F7FE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F0F7FE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2E641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5629575" y="6828296"/>
            <a:ext cx="2168388" cy="3223280"/>
          </a:xfrm>
          <a:custGeom>
            <a:avLst/>
            <a:gdLst/>
            <a:ahLst/>
            <a:cxnLst/>
            <a:rect l="l" t="t" r="r" b="b"/>
            <a:pathLst>
              <a:path w="2168388" h="3223280">
                <a:moveTo>
                  <a:pt x="0" y="0"/>
                </a:moveTo>
                <a:lnTo>
                  <a:pt x="2168388" y="0"/>
                </a:lnTo>
                <a:lnTo>
                  <a:pt x="2168388" y="3223280"/>
                </a:lnTo>
                <a:lnTo>
                  <a:pt x="0" y="3223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753124" y="3358119"/>
            <a:ext cx="7390876" cy="5616051"/>
          </a:xfrm>
          <a:custGeom>
            <a:avLst/>
            <a:gdLst/>
            <a:ahLst/>
            <a:cxnLst/>
            <a:rect l="l" t="t" r="r" b="b"/>
            <a:pathLst>
              <a:path w="7390876" h="5616051">
                <a:moveTo>
                  <a:pt x="0" y="0"/>
                </a:moveTo>
                <a:lnTo>
                  <a:pt x="7390876" y="0"/>
                </a:lnTo>
                <a:lnTo>
                  <a:pt x="7390876" y="5616052"/>
                </a:lnTo>
                <a:lnTo>
                  <a:pt x="0" y="5616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65436" y="2521294"/>
            <a:ext cx="7578564" cy="1954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43"/>
              </a:lnSpc>
            </a:pPr>
            <a:r>
              <a:rPr lang="en-US" sz="4674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Relationships:</a:t>
            </a:r>
          </a:p>
          <a:p>
            <a:pPr algn="just">
              <a:lnSpc>
                <a:spcPts val="5037"/>
              </a:lnSpc>
            </a:pPr>
            <a:endParaRPr lang="en-US" sz="4674" b="1">
              <a:solidFill>
                <a:srgbClr val="FFFFFF"/>
              </a:solidFill>
              <a:latin typeface="Quark Bold"/>
              <a:ea typeface="Quark Bold"/>
              <a:cs typeface="Quark Bold"/>
              <a:sym typeface="Quark Bold"/>
            </a:endParaRPr>
          </a:p>
          <a:p>
            <a:pPr algn="just">
              <a:lnSpc>
                <a:spcPts val="3791"/>
              </a:lnSpc>
            </a:pPr>
            <a:endParaRPr lang="en-US" sz="4674" b="1">
              <a:solidFill>
                <a:srgbClr val="FFFFFF"/>
              </a:solidFill>
              <a:latin typeface="Quark Bold"/>
              <a:ea typeface="Quark Bold"/>
              <a:cs typeface="Quark Bold"/>
              <a:sym typeface="Quark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65436" y="850989"/>
            <a:ext cx="8532387" cy="144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Data Modeling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97823" y="2521294"/>
            <a:ext cx="8188602" cy="542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26"/>
              </a:lnSpc>
            </a:pPr>
            <a:r>
              <a:rPr lang="en-US" sz="4662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Measures Created:</a:t>
            </a:r>
          </a:p>
          <a:p>
            <a:pPr marL="818742" lvl="1" indent="-409371" algn="just">
              <a:lnSpc>
                <a:spcPts val="5309"/>
              </a:lnSpc>
              <a:buFont typeface="Arial"/>
              <a:buChar char="•"/>
            </a:pPr>
            <a:r>
              <a:rPr lang="en-US" sz="3792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Total Revenue</a:t>
            </a:r>
          </a:p>
          <a:p>
            <a:pPr marL="818742" lvl="1" indent="-409371" algn="just">
              <a:lnSpc>
                <a:spcPts val="5309"/>
              </a:lnSpc>
              <a:buFont typeface="Arial"/>
              <a:buChar char="•"/>
            </a:pPr>
            <a:r>
              <a:rPr lang="en-US" sz="3792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Expected Revenue</a:t>
            </a:r>
          </a:p>
          <a:p>
            <a:pPr marL="818742" lvl="1" indent="-409371" algn="just">
              <a:lnSpc>
                <a:spcPts val="5309"/>
              </a:lnSpc>
              <a:buFont typeface="Arial"/>
              <a:buChar char="•"/>
            </a:pPr>
            <a:r>
              <a:rPr lang="en-US" sz="3792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Total Payments Received</a:t>
            </a:r>
          </a:p>
          <a:p>
            <a:pPr marL="818742" lvl="1" indent="-409371" algn="just">
              <a:lnSpc>
                <a:spcPts val="5309"/>
              </a:lnSpc>
              <a:buFont typeface="Arial"/>
              <a:buChar char="•"/>
            </a:pPr>
            <a:r>
              <a:rPr lang="en-US" sz="3792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Revenue Reconciliation %</a:t>
            </a:r>
          </a:p>
          <a:p>
            <a:pPr marL="818742" lvl="1" indent="-409371" algn="just">
              <a:lnSpc>
                <a:spcPts val="5309"/>
              </a:lnSpc>
              <a:buFont typeface="Arial"/>
              <a:buChar char="•"/>
            </a:pPr>
            <a:r>
              <a:rPr lang="en-US" sz="3792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Late Orders</a:t>
            </a:r>
          </a:p>
          <a:p>
            <a:pPr marL="818742" lvl="1" indent="-409371" algn="just">
              <a:lnSpc>
                <a:spcPts val="5309"/>
              </a:lnSpc>
              <a:buFont typeface="Arial"/>
              <a:buChar char="•"/>
            </a:pPr>
            <a:r>
              <a:rPr lang="en-US" sz="3792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Average Delay Days</a:t>
            </a:r>
          </a:p>
          <a:p>
            <a:pPr algn="just">
              <a:lnSpc>
                <a:spcPts val="4395"/>
              </a:lnSpc>
            </a:pPr>
            <a:endParaRPr lang="en-US" sz="3792">
              <a:solidFill>
                <a:srgbClr val="FFFFFF"/>
              </a:solidFill>
              <a:latin typeface="Quark"/>
              <a:ea typeface="Quark"/>
              <a:cs typeface="Quark"/>
              <a:sym typeface="Quar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E4FFC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2E641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5283759" y="6743781"/>
            <a:ext cx="1975541" cy="3186356"/>
          </a:xfrm>
          <a:custGeom>
            <a:avLst/>
            <a:gdLst/>
            <a:ahLst/>
            <a:cxnLst/>
            <a:rect l="l" t="t" r="r" b="b"/>
            <a:pathLst>
              <a:path w="1975541" h="3186356">
                <a:moveTo>
                  <a:pt x="0" y="0"/>
                </a:moveTo>
                <a:lnTo>
                  <a:pt x="1975541" y="0"/>
                </a:lnTo>
                <a:lnTo>
                  <a:pt x="1975541" y="3186356"/>
                </a:lnTo>
                <a:lnTo>
                  <a:pt x="0" y="3186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65436" y="2522749"/>
            <a:ext cx="14534845" cy="211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37"/>
              </a:lnSpc>
            </a:pPr>
            <a:r>
              <a:rPr lang="en-US" sz="3812" b="1">
                <a:solidFill>
                  <a:srgbClr val="2E6417"/>
                </a:solidFill>
                <a:latin typeface="Quark Bold"/>
                <a:ea typeface="Quark Bold"/>
                <a:cs typeface="Quark Bold"/>
                <a:sym typeface="Quark Bold"/>
              </a:rPr>
              <a:t>Financial Overview:</a:t>
            </a:r>
          </a:p>
          <a:p>
            <a:pPr algn="just">
              <a:lnSpc>
                <a:spcPts val="3760"/>
              </a:lnSpc>
            </a:pPr>
            <a:endParaRPr lang="en-US" sz="3812" b="1">
              <a:solidFill>
                <a:srgbClr val="2E6417"/>
              </a:solidFill>
              <a:latin typeface="Quark Bold"/>
              <a:ea typeface="Quark Bold"/>
              <a:cs typeface="Quark Bold"/>
              <a:sym typeface="Quark Bold"/>
            </a:endParaRPr>
          </a:p>
          <a:p>
            <a:pPr algn="just">
              <a:lnSpc>
                <a:spcPts val="3760"/>
              </a:lnSpc>
            </a:pPr>
            <a:endParaRPr lang="en-US" sz="3812" b="1">
              <a:solidFill>
                <a:srgbClr val="2E6417"/>
              </a:solidFill>
              <a:latin typeface="Quark Bold"/>
              <a:ea typeface="Quark Bold"/>
              <a:cs typeface="Quark Bold"/>
              <a:sym typeface="Quark Bold"/>
            </a:endParaRPr>
          </a:p>
          <a:p>
            <a:pPr algn="just">
              <a:lnSpc>
                <a:spcPts val="3760"/>
              </a:lnSpc>
            </a:pPr>
            <a:endParaRPr lang="en-US" sz="3812" b="1">
              <a:solidFill>
                <a:srgbClr val="2E6417"/>
              </a:solidFill>
              <a:latin typeface="Quark Bold"/>
              <a:ea typeface="Quark Bold"/>
              <a:cs typeface="Quark Bold"/>
              <a:sym typeface="Quark 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885186" y="5295623"/>
            <a:ext cx="4095228" cy="1467065"/>
          </a:xfrm>
          <a:custGeom>
            <a:avLst/>
            <a:gdLst/>
            <a:ahLst/>
            <a:cxnLst/>
            <a:rect l="l" t="t" r="r" b="b"/>
            <a:pathLst>
              <a:path w="4095228" h="1467065">
                <a:moveTo>
                  <a:pt x="0" y="0"/>
                </a:moveTo>
                <a:lnTo>
                  <a:pt x="4095229" y="0"/>
                </a:lnTo>
                <a:lnTo>
                  <a:pt x="4095229" y="1467064"/>
                </a:lnTo>
                <a:lnTo>
                  <a:pt x="0" y="14670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984164" y="5251284"/>
            <a:ext cx="5206631" cy="1511403"/>
          </a:xfrm>
          <a:custGeom>
            <a:avLst/>
            <a:gdLst/>
            <a:ahLst/>
            <a:cxnLst/>
            <a:rect l="l" t="t" r="r" b="b"/>
            <a:pathLst>
              <a:path w="5206631" h="1511403">
                <a:moveTo>
                  <a:pt x="0" y="0"/>
                </a:moveTo>
                <a:lnTo>
                  <a:pt x="5206631" y="0"/>
                </a:lnTo>
                <a:lnTo>
                  <a:pt x="5206631" y="1511403"/>
                </a:lnTo>
                <a:lnTo>
                  <a:pt x="0" y="1511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1" b="-771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984164" y="3348181"/>
            <a:ext cx="5206631" cy="1504032"/>
          </a:xfrm>
          <a:custGeom>
            <a:avLst/>
            <a:gdLst/>
            <a:ahLst/>
            <a:cxnLst/>
            <a:rect l="l" t="t" r="r" b="b"/>
            <a:pathLst>
              <a:path w="5206631" h="1504032">
                <a:moveTo>
                  <a:pt x="0" y="0"/>
                </a:moveTo>
                <a:lnTo>
                  <a:pt x="5206631" y="0"/>
                </a:lnTo>
                <a:lnTo>
                  <a:pt x="5206631" y="1504032"/>
                </a:lnTo>
                <a:lnTo>
                  <a:pt x="0" y="15040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17" t="-592" r="-3040" b="-592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920683" y="3348181"/>
            <a:ext cx="4024235" cy="1504032"/>
          </a:xfrm>
          <a:custGeom>
            <a:avLst/>
            <a:gdLst/>
            <a:ahLst/>
            <a:cxnLst/>
            <a:rect l="l" t="t" r="r" b="b"/>
            <a:pathLst>
              <a:path w="4024235" h="1504032">
                <a:moveTo>
                  <a:pt x="0" y="0"/>
                </a:moveTo>
                <a:lnTo>
                  <a:pt x="4024235" y="0"/>
                </a:lnTo>
                <a:lnTo>
                  <a:pt x="4024235" y="1504032"/>
                </a:lnTo>
                <a:lnTo>
                  <a:pt x="0" y="15040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678" r="-1051" b="-2678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849690" y="6972381"/>
            <a:ext cx="11029163" cy="331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32"/>
              </a:lnSpc>
            </a:pPr>
            <a:r>
              <a:rPr lang="en-US" sz="3880" b="1">
                <a:solidFill>
                  <a:srgbClr val="2E6417"/>
                </a:solidFill>
                <a:latin typeface="Quark Bold"/>
                <a:ea typeface="Quark Bold"/>
                <a:cs typeface="Quark Bold"/>
                <a:sym typeface="Quark Bold"/>
              </a:rPr>
              <a:t>Key Insight:</a:t>
            </a:r>
          </a:p>
          <a:p>
            <a:pPr algn="just">
              <a:lnSpc>
                <a:spcPts val="4592"/>
              </a:lnSpc>
            </a:pPr>
            <a:r>
              <a:rPr lang="en-US" sz="3280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Revenue collection is highly aligned with expected revenue, achieving over 97% reconciliation.</a:t>
            </a:r>
          </a:p>
          <a:p>
            <a:pPr algn="just">
              <a:lnSpc>
                <a:spcPts val="3892"/>
              </a:lnSpc>
            </a:pPr>
            <a:endParaRPr lang="en-US" sz="3280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3892"/>
              </a:lnSpc>
            </a:pPr>
            <a:endParaRPr lang="en-US" sz="3280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3892"/>
              </a:lnSpc>
            </a:pPr>
            <a:endParaRPr lang="en-US" sz="3280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65436" y="850989"/>
            <a:ext cx="8532387" cy="1440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2E6417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Dashboard KPIs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7058122" y="-1359025"/>
            <a:ext cx="2248197" cy="3737039"/>
            <a:chOff x="0" y="0"/>
            <a:chExt cx="2997596" cy="498271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1497035"/>
              <a:ext cx="2149946" cy="3485684"/>
              <a:chOff x="0" y="0"/>
              <a:chExt cx="742893" cy="120444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742893" cy="1204444"/>
              </a:xfrm>
              <a:custGeom>
                <a:avLst/>
                <a:gdLst/>
                <a:ahLst/>
                <a:cxnLst/>
                <a:rect l="l" t="t" r="r" b="b"/>
                <a:pathLst>
                  <a:path w="742893" h="1204444">
                    <a:moveTo>
                      <a:pt x="0" y="0"/>
                    </a:moveTo>
                    <a:lnTo>
                      <a:pt x="742893" y="0"/>
                    </a:lnTo>
                    <a:lnTo>
                      <a:pt x="742893" y="1204444"/>
                    </a:lnTo>
                    <a:lnTo>
                      <a:pt x="0" y="1204444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742893" cy="12425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0"/>
              <a:ext cx="2149946" cy="3371772"/>
              <a:chOff x="0" y="0"/>
              <a:chExt cx="742893" cy="116508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42893" cy="1165083"/>
              </a:xfrm>
              <a:custGeom>
                <a:avLst/>
                <a:gdLst/>
                <a:ahLst/>
                <a:cxnLst/>
                <a:rect l="l" t="t" r="r" b="b"/>
                <a:pathLst>
                  <a:path w="742893" h="1165083">
                    <a:moveTo>
                      <a:pt x="0" y="0"/>
                    </a:moveTo>
                    <a:lnTo>
                      <a:pt x="742893" y="0"/>
                    </a:lnTo>
                    <a:lnTo>
                      <a:pt x="742893" y="1165083"/>
                    </a:lnTo>
                    <a:lnTo>
                      <a:pt x="0" y="1165083"/>
                    </a:lnTo>
                    <a:close/>
                  </a:path>
                </a:pathLst>
              </a:custGeom>
              <a:solidFill>
                <a:srgbClr val="E4FFC2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742893" cy="12031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847650" y="1497035"/>
              <a:ext cx="2149946" cy="3485684"/>
              <a:chOff x="0" y="0"/>
              <a:chExt cx="742893" cy="120444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742893" cy="1204444"/>
              </a:xfrm>
              <a:custGeom>
                <a:avLst/>
                <a:gdLst/>
                <a:ahLst/>
                <a:cxnLst/>
                <a:rect l="l" t="t" r="r" b="b"/>
                <a:pathLst>
                  <a:path w="742893" h="1204444">
                    <a:moveTo>
                      <a:pt x="0" y="0"/>
                    </a:moveTo>
                    <a:lnTo>
                      <a:pt x="742893" y="0"/>
                    </a:lnTo>
                    <a:lnTo>
                      <a:pt x="742893" y="1204444"/>
                    </a:lnTo>
                    <a:lnTo>
                      <a:pt x="0" y="1204444"/>
                    </a:lnTo>
                    <a:close/>
                  </a:path>
                </a:pathLst>
              </a:custGeom>
              <a:solidFill>
                <a:srgbClr val="C1FF72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742893" cy="12425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47650" y="0"/>
              <a:ext cx="2149946" cy="3371772"/>
              <a:chOff x="0" y="0"/>
              <a:chExt cx="742893" cy="116508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42893" cy="1165083"/>
              </a:xfrm>
              <a:custGeom>
                <a:avLst/>
                <a:gdLst/>
                <a:ahLst/>
                <a:cxnLst/>
                <a:rect l="l" t="t" r="r" b="b"/>
                <a:pathLst>
                  <a:path w="742893" h="1165083">
                    <a:moveTo>
                      <a:pt x="0" y="0"/>
                    </a:moveTo>
                    <a:lnTo>
                      <a:pt x="742893" y="0"/>
                    </a:lnTo>
                    <a:lnTo>
                      <a:pt x="742893" y="1165083"/>
                    </a:lnTo>
                    <a:lnTo>
                      <a:pt x="0" y="1165083"/>
                    </a:lnTo>
                    <a:close/>
                  </a:path>
                </a:pathLst>
              </a:custGeom>
              <a:solidFill>
                <a:srgbClr val="2E6417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742893" cy="12031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4250770" y="6942116"/>
            <a:ext cx="2807352" cy="3088087"/>
          </a:xfrm>
          <a:custGeom>
            <a:avLst/>
            <a:gdLst/>
            <a:ahLst/>
            <a:cxnLst/>
            <a:rect l="l" t="t" r="r" b="b"/>
            <a:pathLst>
              <a:path w="2807352" h="3088087">
                <a:moveTo>
                  <a:pt x="0" y="0"/>
                </a:moveTo>
                <a:lnTo>
                  <a:pt x="2807352" y="0"/>
                </a:lnTo>
                <a:lnTo>
                  <a:pt x="2807352" y="3088087"/>
                </a:lnTo>
                <a:lnTo>
                  <a:pt x="0" y="3088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345764" y="2378014"/>
            <a:ext cx="6836457" cy="3707715"/>
          </a:xfrm>
          <a:custGeom>
            <a:avLst/>
            <a:gdLst/>
            <a:ahLst/>
            <a:cxnLst/>
            <a:rect l="l" t="t" r="r" b="b"/>
            <a:pathLst>
              <a:path w="6836457" h="3707715">
                <a:moveTo>
                  <a:pt x="0" y="0"/>
                </a:moveTo>
                <a:lnTo>
                  <a:pt x="6836457" y="0"/>
                </a:lnTo>
                <a:lnTo>
                  <a:pt x="6836457" y="3707714"/>
                </a:lnTo>
                <a:lnTo>
                  <a:pt x="0" y="3707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51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24662" y="5409469"/>
            <a:ext cx="10547802" cy="3719488"/>
          </a:xfrm>
          <a:custGeom>
            <a:avLst/>
            <a:gdLst/>
            <a:ahLst/>
            <a:cxnLst/>
            <a:rect l="l" t="t" r="r" b="b"/>
            <a:pathLst>
              <a:path w="10547802" h="3719488">
                <a:moveTo>
                  <a:pt x="0" y="0"/>
                </a:moveTo>
                <a:lnTo>
                  <a:pt x="10547802" y="0"/>
                </a:lnTo>
                <a:lnTo>
                  <a:pt x="10547802" y="3719488"/>
                </a:lnTo>
                <a:lnTo>
                  <a:pt x="0" y="3719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565436" y="850989"/>
            <a:ext cx="10677525" cy="1440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2E6417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Order &amp; Revenue 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65436" y="2282764"/>
            <a:ext cx="14853353" cy="1200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10"/>
              </a:lnSpc>
            </a:pPr>
            <a:r>
              <a:rPr lang="en-US" sz="3864" b="1">
                <a:solidFill>
                  <a:srgbClr val="2E6417"/>
                </a:solidFill>
                <a:latin typeface="Quark Bold"/>
                <a:ea typeface="Quark Bold"/>
                <a:cs typeface="Quark Bold"/>
                <a:sym typeface="Quark Bold"/>
              </a:rPr>
              <a:t>Findings</a:t>
            </a:r>
            <a:r>
              <a:rPr lang="en-US" sz="3864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:</a:t>
            </a:r>
          </a:p>
          <a:p>
            <a:pPr algn="just">
              <a:lnSpc>
                <a:spcPts val="4010"/>
              </a:lnSpc>
            </a:pPr>
            <a:endParaRPr lang="en-US" sz="3864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565436" y="3004124"/>
            <a:ext cx="9343905" cy="393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2276" lvl="1" indent="-306138" algn="just">
              <a:lnSpc>
                <a:spcPts val="3970"/>
              </a:lnSpc>
              <a:buFont typeface="Arial"/>
              <a:buChar char="•"/>
            </a:pPr>
            <a:r>
              <a:rPr lang="en-US" sz="2835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Orders increased significantly during 2017–2018.</a:t>
            </a:r>
          </a:p>
          <a:p>
            <a:pPr marL="612276" lvl="1" indent="-306138" algn="just">
              <a:lnSpc>
                <a:spcPts val="3970"/>
              </a:lnSpc>
              <a:buFont typeface="Arial"/>
              <a:buChar char="•"/>
            </a:pPr>
            <a:r>
              <a:rPr lang="en-US" sz="2835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Delivered orders represent the majority of all orders.</a:t>
            </a:r>
          </a:p>
          <a:p>
            <a:pPr marL="612276" lvl="1" indent="-306138" algn="just">
              <a:lnSpc>
                <a:spcPts val="3970"/>
              </a:lnSpc>
              <a:buFont typeface="Arial"/>
              <a:buChar char="•"/>
            </a:pPr>
            <a:r>
              <a:rPr lang="en-US" sz="2835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Revenue showed consistent growth over time.</a:t>
            </a:r>
          </a:p>
          <a:p>
            <a:pPr marL="593382" lvl="1" indent="-296691" algn="just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Average Order Value remained relatively stable.</a:t>
            </a:r>
          </a:p>
          <a:p>
            <a:pPr algn="just">
              <a:lnSpc>
                <a:spcPts val="3970"/>
              </a:lnSpc>
            </a:pPr>
            <a:r>
              <a:rPr lang="en-US" sz="2835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 </a:t>
            </a:r>
          </a:p>
          <a:p>
            <a:pPr algn="just">
              <a:lnSpc>
                <a:spcPts val="3970"/>
              </a:lnSpc>
            </a:pPr>
            <a:endParaRPr lang="en-US" sz="2835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3970"/>
              </a:lnSpc>
            </a:pPr>
            <a:endParaRPr lang="en-US" sz="2835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3970"/>
              </a:lnSpc>
            </a:pPr>
            <a:endParaRPr lang="en-US" sz="2835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E4FFC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2E641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5935062" y="6652997"/>
            <a:ext cx="1862901" cy="3004680"/>
          </a:xfrm>
          <a:custGeom>
            <a:avLst/>
            <a:gdLst/>
            <a:ahLst/>
            <a:cxnLst/>
            <a:rect l="l" t="t" r="r" b="b"/>
            <a:pathLst>
              <a:path w="1862901" h="3004680">
                <a:moveTo>
                  <a:pt x="0" y="0"/>
                </a:moveTo>
                <a:lnTo>
                  <a:pt x="1862901" y="0"/>
                </a:lnTo>
                <a:lnTo>
                  <a:pt x="1862901" y="3004679"/>
                </a:lnTo>
                <a:lnTo>
                  <a:pt x="0" y="30046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821581" y="5361429"/>
            <a:ext cx="13794421" cy="3638279"/>
          </a:xfrm>
          <a:custGeom>
            <a:avLst/>
            <a:gdLst/>
            <a:ahLst/>
            <a:cxnLst/>
            <a:rect l="l" t="t" r="r" b="b"/>
            <a:pathLst>
              <a:path w="13794421" h="3638279">
                <a:moveTo>
                  <a:pt x="0" y="0"/>
                </a:moveTo>
                <a:lnTo>
                  <a:pt x="13794422" y="0"/>
                </a:lnTo>
                <a:lnTo>
                  <a:pt x="13794422" y="3638279"/>
                </a:lnTo>
                <a:lnTo>
                  <a:pt x="0" y="3638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65436" y="2554500"/>
            <a:ext cx="7578564" cy="416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53"/>
              </a:lnSpc>
            </a:pPr>
            <a:r>
              <a:rPr lang="en-US" sz="3823" b="1">
                <a:solidFill>
                  <a:srgbClr val="2E6417"/>
                </a:solidFill>
                <a:latin typeface="Quark Bold"/>
                <a:ea typeface="Quark Bold"/>
                <a:cs typeface="Quark Bold"/>
                <a:sym typeface="Quark Bold"/>
              </a:rPr>
              <a:t>Findings:</a:t>
            </a:r>
          </a:p>
          <a:p>
            <a:pPr marL="608320" lvl="1" indent="-304160" algn="just">
              <a:lnSpc>
                <a:spcPts val="3944"/>
              </a:lnSpc>
              <a:buFont typeface="Arial"/>
              <a:buChar char="•"/>
            </a:pPr>
            <a:r>
              <a:rPr lang="en-US" sz="2817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Most orders were delivered on time.</a:t>
            </a:r>
          </a:p>
          <a:p>
            <a:pPr marL="608320" lvl="1" indent="-304160" algn="just">
              <a:lnSpc>
                <a:spcPts val="3944"/>
              </a:lnSpc>
              <a:buFont typeface="Arial"/>
              <a:buChar char="•"/>
            </a:pPr>
            <a:r>
              <a:rPr lang="en-US" sz="2817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Average delivery delay remained below one day.</a:t>
            </a:r>
          </a:p>
          <a:p>
            <a:pPr marL="608320" lvl="1" indent="-304160" algn="just">
              <a:lnSpc>
                <a:spcPts val="3944"/>
              </a:lnSpc>
              <a:buFont typeface="Arial"/>
              <a:buChar char="•"/>
            </a:pPr>
            <a:r>
              <a:rPr lang="en-US" sz="2817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Late deliveries represented a relatively small percentage of total orders.</a:t>
            </a:r>
          </a:p>
          <a:p>
            <a:pPr algn="just">
              <a:lnSpc>
                <a:spcPts val="3944"/>
              </a:lnSpc>
            </a:pPr>
            <a:endParaRPr lang="en-US" sz="2817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3944"/>
              </a:lnSpc>
            </a:pPr>
            <a:endParaRPr lang="en-US" sz="2817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3944"/>
              </a:lnSpc>
            </a:pPr>
            <a:endParaRPr lang="en-US" sz="2817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65436" y="850989"/>
            <a:ext cx="8018324" cy="1440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2E6417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Delivery Insights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08636" y="2554500"/>
            <a:ext cx="6138156" cy="365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04"/>
              </a:lnSpc>
            </a:pPr>
            <a:r>
              <a:rPr lang="en-US" sz="3646" b="1">
                <a:solidFill>
                  <a:srgbClr val="2E6417"/>
                </a:solidFill>
                <a:latin typeface="Quark Bold"/>
                <a:ea typeface="Quark Bold"/>
                <a:cs typeface="Quark Bold"/>
                <a:sym typeface="Quark Bold"/>
              </a:rPr>
              <a:t>Business Impact:</a:t>
            </a:r>
          </a:p>
          <a:p>
            <a:pPr algn="just">
              <a:lnSpc>
                <a:spcPts val="3769"/>
              </a:lnSpc>
            </a:pPr>
            <a:r>
              <a:rPr lang="en-US" sz="2692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Efficient delivery performance contributes to customer satisfaction.</a:t>
            </a:r>
          </a:p>
          <a:p>
            <a:pPr algn="just">
              <a:lnSpc>
                <a:spcPts val="5104"/>
              </a:lnSpc>
            </a:pPr>
            <a:endParaRPr lang="en-US" sz="2692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3761"/>
              </a:lnSpc>
            </a:pPr>
            <a:endParaRPr lang="en-US" sz="2692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3761"/>
              </a:lnSpc>
            </a:pPr>
            <a:endParaRPr lang="en-US" sz="2692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3761"/>
              </a:lnSpc>
            </a:pPr>
            <a:endParaRPr lang="en-US" sz="2692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7259300" y="-1098298"/>
            <a:ext cx="1956277" cy="3390181"/>
            <a:chOff x="0" y="0"/>
            <a:chExt cx="2608370" cy="4520241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1358086"/>
              <a:ext cx="1870784" cy="3162155"/>
              <a:chOff x="0" y="0"/>
              <a:chExt cx="646431" cy="109265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6431" cy="1092652"/>
              </a:xfrm>
              <a:custGeom>
                <a:avLst/>
                <a:gdLst/>
                <a:ahLst/>
                <a:cxnLst/>
                <a:rect l="l" t="t" r="r" b="b"/>
                <a:pathLst>
                  <a:path w="646431" h="1092652">
                    <a:moveTo>
                      <a:pt x="0" y="0"/>
                    </a:moveTo>
                    <a:lnTo>
                      <a:pt x="646431" y="0"/>
                    </a:lnTo>
                    <a:lnTo>
                      <a:pt x="646431" y="1092652"/>
                    </a:lnTo>
                    <a:lnTo>
                      <a:pt x="0" y="1092652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646431" cy="11307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0"/>
              <a:ext cx="1870784" cy="3058816"/>
              <a:chOff x="0" y="0"/>
              <a:chExt cx="646431" cy="105694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46431" cy="1056944"/>
              </a:xfrm>
              <a:custGeom>
                <a:avLst/>
                <a:gdLst/>
                <a:ahLst/>
                <a:cxnLst/>
                <a:rect l="l" t="t" r="r" b="b"/>
                <a:pathLst>
                  <a:path w="646431" h="1056944">
                    <a:moveTo>
                      <a:pt x="0" y="0"/>
                    </a:moveTo>
                    <a:lnTo>
                      <a:pt x="646431" y="0"/>
                    </a:lnTo>
                    <a:lnTo>
                      <a:pt x="646431" y="1056944"/>
                    </a:lnTo>
                    <a:lnTo>
                      <a:pt x="0" y="1056944"/>
                    </a:lnTo>
                    <a:close/>
                  </a:path>
                </a:pathLst>
              </a:custGeom>
              <a:solidFill>
                <a:srgbClr val="D9F4CD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646431" cy="10950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737586" y="1358086"/>
              <a:ext cx="1870784" cy="3162155"/>
              <a:chOff x="0" y="0"/>
              <a:chExt cx="646431" cy="109265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46431" cy="1092652"/>
              </a:xfrm>
              <a:custGeom>
                <a:avLst/>
                <a:gdLst/>
                <a:ahLst/>
                <a:cxnLst/>
                <a:rect l="l" t="t" r="r" b="b"/>
                <a:pathLst>
                  <a:path w="646431" h="1092652">
                    <a:moveTo>
                      <a:pt x="0" y="0"/>
                    </a:moveTo>
                    <a:lnTo>
                      <a:pt x="646431" y="0"/>
                    </a:lnTo>
                    <a:lnTo>
                      <a:pt x="646431" y="1092652"/>
                    </a:lnTo>
                    <a:lnTo>
                      <a:pt x="0" y="1092652"/>
                    </a:lnTo>
                    <a:close/>
                  </a:path>
                </a:pathLst>
              </a:custGeom>
              <a:solidFill>
                <a:srgbClr val="2E6417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646431" cy="11307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37586" y="0"/>
              <a:ext cx="1870784" cy="3058816"/>
              <a:chOff x="0" y="0"/>
              <a:chExt cx="646431" cy="105694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46431" cy="1056944"/>
              </a:xfrm>
              <a:custGeom>
                <a:avLst/>
                <a:gdLst/>
                <a:ahLst/>
                <a:cxnLst/>
                <a:rect l="l" t="t" r="r" b="b"/>
                <a:pathLst>
                  <a:path w="646431" h="1056944">
                    <a:moveTo>
                      <a:pt x="0" y="0"/>
                    </a:moveTo>
                    <a:lnTo>
                      <a:pt x="646431" y="0"/>
                    </a:lnTo>
                    <a:lnTo>
                      <a:pt x="646431" y="1056944"/>
                    </a:lnTo>
                    <a:lnTo>
                      <a:pt x="0" y="1056944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646431" cy="10950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1565436" y="850989"/>
            <a:ext cx="8532387" cy="1440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2E6417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The Dashboard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62DCE71-C1AB-3279-C937-2F87163DF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07104"/>
            <a:ext cx="18288000" cy="58483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E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E4FFC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2E641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565828" y="7044055"/>
            <a:ext cx="1849099" cy="2627919"/>
          </a:xfrm>
          <a:custGeom>
            <a:avLst/>
            <a:gdLst/>
            <a:ahLst/>
            <a:cxnLst/>
            <a:rect l="l" t="t" r="r" b="b"/>
            <a:pathLst>
              <a:path w="1849099" h="2627919">
                <a:moveTo>
                  <a:pt x="0" y="0"/>
                </a:moveTo>
                <a:lnTo>
                  <a:pt x="1849099" y="0"/>
                </a:lnTo>
                <a:lnTo>
                  <a:pt x="1849099" y="2627919"/>
                </a:lnTo>
                <a:lnTo>
                  <a:pt x="0" y="26279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65436" y="850989"/>
            <a:ext cx="12762654" cy="144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2E6417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Conclusion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65436" y="2780241"/>
            <a:ext cx="14959173" cy="545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16"/>
              </a:lnSpc>
            </a:pPr>
            <a:r>
              <a:rPr lang="en-US" sz="4654" b="1">
                <a:solidFill>
                  <a:srgbClr val="2E6417"/>
                </a:solidFill>
                <a:latin typeface="Quark Bold"/>
                <a:ea typeface="Quark Bold"/>
                <a:cs typeface="Quark Bold"/>
                <a:sym typeface="Quark Bold"/>
              </a:rPr>
              <a:t>Project Outcomes:</a:t>
            </a:r>
          </a:p>
          <a:p>
            <a:pPr algn="just">
              <a:lnSpc>
                <a:spcPts val="5491"/>
              </a:lnSpc>
            </a:pPr>
            <a:r>
              <a:rPr lang="en-US" sz="3922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✅ Built an interactive financial dashboard</a:t>
            </a:r>
          </a:p>
          <a:p>
            <a:pPr algn="just">
              <a:lnSpc>
                <a:spcPts val="5491"/>
              </a:lnSpc>
            </a:pPr>
            <a:r>
              <a:rPr lang="en-US" sz="3922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✅ Performed data cleaning and modeling</a:t>
            </a:r>
          </a:p>
          <a:p>
            <a:pPr algn="just">
              <a:lnSpc>
                <a:spcPts val="5491"/>
              </a:lnSpc>
            </a:pPr>
            <a:r>
              <a:rPr lang="en-US" sz="3922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✅ Created KPIs and business insights</a:t>
            </a:r>
          </a:p>
          <a:p>
            <a:pPr algn="just">
              <a:lnSpc>
                <a:spcPts val="5491"/>
              </a:lnSpc>
            </a:pPr>
            <a:r>
              <a:rPr lang="en-US" sz="3922">
                <a:solidFill>
                  <a:srgbClr val="2E6417"/>
                </a:solidFill>
                <a:latin typeface="Quark"/>
                <a:ea typeface="Quark"/>
                <a:cs typeface="Quark"/>
                <a:sym typeface="Quark"/>
              </a:rPr>
              <a:t>✅ Enabled filtering through slicers and timeline controls</a:t>
            </a:r>
          </a:p>
          <a:p>
            <a:pPr algn="just">
              <a:lnSpc>
                <a:spcPts val="4931"/>
              </a:lnSpc>
            </a:pPr>
            <a:endParaRPr lang="en-US" sz="3922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4931"/>
              </a:lnSpc>
            </a:pPr>
            <a:endParaRPr lang="en-US" sz="3922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4931"/>
              </a:lnSpc>
            </a:pPr>
            <a:endParaRPr lang="en-US" sz="3922">
              <a:solidFill>
                <a:srgbClr val="2E6417"/>
              </a:solidFill>
              <a:latin typeface="Quark"/>
              <a:ea typeface="Quark"/>
              <a:cs typeface="Quark"/>
              <a:sym typeface="Quar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2E6417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042557" y="-380448"/>
            <a:ext cx="3086100" cy="7022063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042557" y="-3396291"/>
            <a:ext cx="3086100" cy="6792583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E4FFC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59300" y="-380448"/>
            <a:ext cx="3086100" cy="7022063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259300" y="-3396291"/>
            <a:ext cx="3086100" cy="6792583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2E641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flipH="1">
            <a:off x="3064867" y="6405372"/>
            <a:ext cx="3771794" cy="4199366"/>
          </a:xfrm>
          <a:custGeom>
            <a:avLst/>
            <a:gdLst/>
            <a:ahLst/>
            <a:cxnLst/>
            <a:rect l="l" t="t" r="r" b="b"/>
            <a:pathLst>
              <a:path w="3771794" h="4199366">
                <a:moveTo>
                  <a:pt x="3771794" y="0"/>
                </a:moveTo>
                <a:lnTo>
                  <a:pt x="0" y="0"/>
                </a:lnTo>
                <a:lnTo>
                  <a:pt x="0" y="4199365"/>
                </a:lnTo>
                <a:lnTo>
                  <a:pt x="3771794" y="4199365"/>
                </a:lnTo>
                <a:lnTo>
                  <a:pt x="377179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65436" y="1325159"/>
            <a:ext cx="10390539" cy="378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12"/>
              </a:lnSpc>
            </a:pPr>
            <a:r>
              <a:rPr lang="en-US" sz="12190" b="1">
                <a:solidFill>
                  <a:srgbClr val="2E6417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Thank You</a:t>
            </a:r>
          </a:p>
          <a:p>
            <a:pPr algn="l">
              <a:lnSpc>
                <a:spcPts val="12312"/>
              </a:lnSpc>
            </a:pPr>
            <a:endParaRPr lang="en-US" sz="12190" b="1">
              <a:solidFill>
                <a:srgbClr val="2E6417"/>
              </a:solidFill>
              <a:latin typeface="Karnchang SemiCondensed Bold"/>
              <a:ea typeface="Karnchang SemiCondensed Bold"/>
              <a:cs typeface="Karnchang SemiCondensed Bold"/>
              <a:sym typeface="Karnchang SemiCondensed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Microsoft Office PowerPoint</Application>
  <PresentationFormat>Custom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Quark Bold</vt:lpstr>
      <vt:lpstr>Calibri</vt:lpstr>
      <vt:lpstr>Quark</vt:lpstr>
      <vt:lpstr>Karnchang SemiCondensed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Financial Dashboard</dc:title>
  <cp:lastModifiedBy>Noran 20211015</cp:lastModifiedBy>
  <cp:revision>2</cp:revision>
  <dcterms:created xsi:type="dcterms:W3CDTF">2006-08-16T00:00:00Z</dcterms:created>
  <dcterms:modified xsi:type="dcterms:W3CDTF">2026-06-29T03:30:15Z</dcterms:modified>
  <dc:identifier>DAHMky85Dak</dc:identifier>
</cp:coreProperties>
</file>