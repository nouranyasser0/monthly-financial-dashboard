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Karnchang SemiCondensed Bold" charset="1" panose="00000000000000000000"/>
      <p:regular r:id="rId16"/>
    </p:embeddedFont>
    <p:embeddedFont>
      <p:font typeface="Quark" charset="1" panose="02000000000000000000"/>
      <p:regular r:id="rId17"/>
    </p:embeddedFont>
    <p:embeddedFont>
      <p:font typeface="Quark Bold" charset="1" panose="0200000000000000000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9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12.png" Type="http://schemas.openxmlformats.org/officeDocument/2006/relationships/image"/><Relationship Id="rId5" Target="../media/image13.png" Type="http://schemas.openxmlformats.org/officeDocument/2006/relationships/image"/><Relationship Id="rId6" Target="../media/image14.png" Type="http://schemas.openxmlformats.org/officeDocument/2006/relationships/image"/><Relationship Id="rId7" Target="../media/image1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svg" Type="http://schemas.openxmlformats.org/officeDocument/2006/relationships/image"/><Relationship Id="rId4" Target="../media/image18.png" Type="http://schemas.openxmlformats.org/officeDocument/2006/relationships/image"/><Relationship Id="rId5" Target="../media/image19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Relationship Id="rId3" Target="../media/image21.svg" Type="http://schemas.openxmlformats.org/officeDocument/2006/relationships/image"/><Relationship Id="rId4" Target="../media/image22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25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27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565436" y="9239250"/>
            <a:ext cx="20019890" cy="0"/>
          </a:xfrm>
          <a:prstGeom prst="line">
            <a:avLst/>
          </a:prstGeom>
          <a:ln cap="flat" w="38100">
            <a:solidFill>
              <a:srgbClr val="2E6417"/>
            </a:solidFill>
            <a:prstDash val="solid"/>
            <a:headEnd type="diamond" len="lg" w="lg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701348" y="6961668"/>
            <a:ext cx="4815191" cy="4114800"/>
          </a:xfrm>
          <a:custGeom>
            <a:avLst/>
            <a:gdLst/>
            <a:ahLst/>
            <a:cxnLst/>
            <a:rect r="r" b="b" t="t" l="l"/>
            <a:pathLst>
              <a:path h="4114800" w="4815191">
                <a:moveTo>
                  <a:pt x="0" y="0"/>
                </a:moveTo>
                <a:lnTo>
                  <a:pt x="4815192" y="0"/>
                </a:lnTo>
                <a:lnTo>
                  <a:pt x="481519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 flipV="true">
            <a:off x="624662" y="-18432980"/>
            <a:ext cx="0" cy="20019890"/>
          </a:xfrm>
          <a:prstGeom prst="line">
            <a:avLst/>
          </a:prstGeom>
          <a:ln cap="flat" w="38100">
            <a:solidFill>
              <a:srgbClr val="2E6417"/>
            </a:solidFill>
            <a:prstDash val="solid"/>
            <a:headEnd type="diamond" len="lg" w="lg"/>
            <a:tailEnd type="none" len="sm" w="sm"/>
          </a:ln>
        </p:spPr>
      </p:sp>
      <p:grpSp>
        <p:nvGrpSpPr>
          <p:cNvPr name="Group 5" id="5"/>
          <p:cNvGrpSpPr/>
          <p:nvPr/>
        </p:nvGrpSpPr>
        <p:grpSpPr>
          <a:xfrm rot="0">
            <a:off x="16042557" y="-380448"/>
            <a:ext cx="3086100" cy="7022063"/>
            <a:chOff x="0" y="0"/>
            <a:chExt cx="812800" cy="184943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1849432"/>
            </a:xfrm>
            <a:custGeom>
              <a:avLst/>
              <a:gdLst/>
              <a:ahLst/>
              <a:cxnLst/>
              <a:rect r="r" b="b" t="t" l="l"/>
              <a:pathLst>
                <a:path h="184943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849432"/>
                  </a:lnTo>
                  <a:lnTo>
                    <a:pt x="0" y="1849432"/>
                  </a:lnTo>
                  <a:close/>
                </a:path>
              </a:pathLst>
            </a:custGeom>
            <a:solidFill>
              <a:srgbClr val="00BF6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812800" cy="18875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042557" y="-3396291"/>
            <a:ext cx="3086100" cy="6792583"/>
            <a:chOff x="0" y="0"/>
            <a:chExt cx="812800" cy="178899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1788993"/>
            </a:xfrm>
            <a:custGeom>
              <a:avLst/>
              <a:gdLst/>
              <a:ahLst/>
              <a:cxnLst/>
              <a:rect r="r" b="b" t="t" l="l"/>
              <a:pathLst>
                <a:path h="178899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788993"/>
                  </a:lnTo>
                  <a:lnTo>
                    <a:pt x="0" y="1788993"/>
                  </a:lnTo>
                  <a:close/>
                </a:path>
              </a:pathLst>
            </a:custGeom>
            <a:solidFill>
              <a:srgbClr val="E4FFC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812800" cy="1827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565436" y="666750"/>
            <a:ext cx="11549217" cy="37803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312"/>
              </a:lnSpc>
            </a:pPr>
            <a:r>
              <a:rPr lang="en-US" sz="12190" b="true">
                <a:solidFill>
                  <a:srgbClr val="2E6417"/>
                </a:solidFill>
                <a:latin typeface="Karnchang SemiCondensed Bold"/>
                <a:ea typeface="Karnchang SemiCondensed Bold"/>
                <a:cs typeface="Karnchang SemiCondensed Bold"/>
                <a:sym typeface="Karnchang SemiCondensed Bold"/>
              </a:rPr>
              <a:t>Monthly Financial Dashboard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565436" y="4392930"/>
            <a:ext cx="8653460" cy="9061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OLIST E-COMMERCE DATASET 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7259300" y="-380448"/>
            <a:ext cx="3086100" cy="7022063"/>
            <a:chOff x="0" y="0"/>
            <a:chExt cx="812800" cy="184943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1849432"/>
            </a:xfrm>
            <a:custGeom>
              <a:avLst/>
              <a:gdLst/>
              <a:ahLst/>
              <a:cxnLst/>
              <a:rect r="r" b="b" t="t" l="l"/>
              <a:pathLst>
                <a:path h="184943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849432"/>
                  </a:lnTo>
                  <a:lnTo>
                    <a:pt x="0" y="1849432"/>
                  </a:lnTo>
                  <a:close/>
                </a:path>
              </a:pathLst>
            </a:custGeom>
            <a:solidFill>
              <a:srgbClr val="C1FF72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812800" cy="18875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7259300" y="-3396291"/>
            <a:ext cx="3086100" cy="6792583"/>
            <a:chOff x="0" y="0"/>
            <a:chExt cx="812800" cy="1788993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1788993"/>
            </a:xfrm>
            <a:custGeom>
              <a:avLst/>
              <a:gdLst/>
              <a:ahLst/>
              <a:cxnLst/>
              <a:rect r="r" b="b" t="t" l="l"/>
              <a:pathLst>
                <a:path h="178899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788993"/>
                  </a:lnTo>
                  <a:lnTo>
                    <a:pt x="0" y="1788993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812800" cy="1827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565436" y="9239250"/>
            <a:ext cx="20019890" cy="0"/>
          </a:xfrm>
          <a:prstGeom prst="line">
            <a:avLst/>
          </a:prstGeom>
          <a:ln cap="flat" w="38100">
            <a:solidFill>
              <a:srgbClr val="2E6417"/>
            </a:solidFill>
            <a:prstDash val="solid"/>
            <a:headEnd type="diamond" len="lg" w="lg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flipV="true">
            <a:off x="624662" y="-18432980"/>
            <a:ext cx="0" cy="20019890"/>
          </a:xfrm>
          <a:prstGeom prst="line">
            <a:avLst/>
          </a:prstGeom>
          <a:ln cap="flat" w="38100">
            <a:solidFill>
              <a:srgbClr val="2E6417"/>
            </a:solidFill>
            <a:prstDash val="solid"/>
            <a:headEnd type="diamond" len="lg" w="lg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16915866" y="-251526"/>
            <a:ext cx="1764194" cy="4014219"/>
            <a:chOff x="0" y="0"/>
            <a:chExt cx="812800" cy="18494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1849432"/>
            </a:xfrm>
            <a:custGeom>
              <a:avLst/>
              <a:gdLst/>
              <a:ahLst/>
              <a:cxnLst/>
              <a:rect r="r" b="b" t="t" l="l"/>
              <a:pathLst>
                <a:path h="184943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849432"/>
                  </a:lnTo>
                  <a:lnTo>
                    <a:pt x="0" y="1849432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812800" cy="18875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915866" y="-1975557"/>
            <a:ext cx="1764194" cy="3883035"/>
            <a:chOff x="0" y="0"/>
            <a:chExt cx="812800" cy="178899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1788993"/>
            </a:xfrm>
            <a:custGeom>
              <a:avLst/>
              <a:gdLst/>
              <a:ahLst/>
              <a:cxnLst/>
              <a:rect r="r" b="b" t="t" l="l"/>
              <a:pathLst>
                <a:path h="178899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788993"/>
                  </a:lnTo>
                  <a:lnTo>
                    <a:pt x="0" y="1788993"/>
                  </a:lnTo>
                  <a:close/>
                </a:path>
              </a:pathLst>
            </a:custGeom>
            <a:solidFill>
              <a:srgbClr val="D9F4CD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812800" cy="1827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565436" y="2388651"/>
            <a:ext cx="15063891" cy="68461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433"/>
              </a:lnSpc>
            </a:pPr>
            <a:r>
              <a:rPr lang="en-US" b="true" sz="4098">
                <a:solidFill>
                  <a:srgbClr val="2E6417"/>
                </a:solidFill>
                <a:latin typeface="Quark Bold"/>
                <a:ea typeface="Quark Bold"/>
                <a:cs typeface="Quark Bold"/>
                <a:sym typeface="Quark Bold"/>
              </a:rPr>
              <a:t>Objective</a:t>
            </a:r>
            <a:r>
              <a:rPr lang="en-US" sz="4098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:</a:t>
            </a:r>
          </a:p>
          <a:p>
            <a:pPr algn="just">
              <a:lnSpc>
                <a:spcPts val="5177"/>
              </a:lnSpc>
            </a:pPr>
            <a:r>
              <a:rPr lang="en-US" sz="3298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T</a:t>
            </a:r>
            <a:r>
              <a:rPr lang="en-US" sz="3298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he goal of this project is to analyze monthly financial performance and delivery operations using the Olist E-Commerce datase</a:t>
            </a:r>
          </a:p>
          <a:p>
            <a:pPr algn="just">
              <a:lnSpc>
                <a:spcPts val="6276"/>
              </a:lnSpc>
            </a:pPr>
            <a:r>
              <a:rPr lang="en-US" b="true" sz="3998">
                <a:solidFill>
                  <a:srgbClr val="2E6417"/>
                </a:solidFill>
                <a:latin typeface="Quark Bold"/>
                <a:ea typeface="Quark Bold"/>
                <a:cs typeface="Quark Bold"/>
                <a:sym typeface="Quark Bold"/>
              </a:rPr>
              <a:t>Key Business Questions:</a:t>
            </a:r>
          </a:p>
          <a:p>
            <a:pPr algn="just" marL="712049" indent="-356024" lvl="1">
              <a:lnSpc>
                <a:spcPts val="5177"/>
              </a:lnSpc>
              <a:buFont typeface="Arial"/>
              <a:buChar char="•"/>
            </a:pPr>
            <a:r>
              <a:rPr lang="en-US" sz="3298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What is the total revenue generated?</a:t>
            </a:r>
          </a:p>
          <a:p>
            <a:pPr algn="just" marL="712049" indent="-356024" lvl="1">
              <a:lnSpc>
                <a:spcPts val="5177"/>
              </a:lnSpc>
              <a:buFont typeface="Arial"/>
              <a:buChar char="•"/>
            </a:pPr>
            <a:r>
              <a:rPr lang="en-US" sz="3298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How do actual revenues compare to expected revenues?</a:t>
            </a:r>
          </a:p>
          <a:p>
            <a:pPr algn="just" marL="712049" indent="-356024" lvl="1">
              <a:lnSpc>
                <a:spcPts val="5177"/>
              </a:lnSpc>
              <a:buFont typeface="Arial"/>
              <a:buChar char="•"/>
            </a:pPr>
            <a:r>
              <a:rPr lang="en-US" sz="3298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What are the monthly order trends?</a:t>
            </a:r>
          </a:p>
          <a:p>
            <a:pPr algn="just" marL="712049" indent="-356024" lvl="1">
              <a:lnSpc>
                <a:spcPts val="5177"/>
              </a:lnSpc>
              <a:buFont typeface="Arial"/>
              <a:buChar char="•"/>
            </a:pPr>
            <a:r>
              <a:rPr lang="en-US" sz="3298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How efficient is the delivery process?</a:t>
            </a:r>
          </a:p>
          <a:p>
            <a:pPr algn="just" marL="712049" indent="-356024" lvl="1">
              <a:lnSpc>
                <a:spcPts val="5177"/>
              </a:lnSpc>
              <a:buFont typeface="Arial"/>
              <a:buChar char="•"/>
            </a:pPr>
            <a:r>
              <a:rPr lang="en-US" sz="3298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What are the main order statuses?</a:t>
            </a:r>
          </a:p>
          <a:p>
            <a:pPr algn="just">
              <a:lnSpc>
                <a:spcPts val="5177"/>
              </a:lnSpc>
            </a:pPr>
          </a:p>
        </p:txBody>
      </p:sp>
      <p:grpSp>
        <p:nvGrpSpPr>
          <p:cNvPr name="Group 11" id="11"/>
          <p:cNvGrpSpPr/>
          <p:nvPr/>
        </p:nvGrpSpPr>
        <p:grpSpPr>
          <a:xfrm rot="0">
            <a:off x="17611427" y="-251526"/>
            <a:ext cx="1764194" cy="4014219"/>
            <a:chOff x="0" y="0"/>
            <a:chExt cx="812800" cy="184943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1849432"/>
            </a:xfrm>
            <a:custGeom>
              <a:avLst/>
              <a:gdLst/>
              <a:ahLst/>
              <a:cxnLst/>
              <a:rect r="r" b="b" t="t" l="l"/>
              <a:pathLst>
                <a:path h="184943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849432"/>
                  </a:lnTo>
                  <a:lnTo>
                    <a:pt x="0" y="1849432"/>
                  </a:lnTo>
                  <a:close/>
                </a:path>
              </a:pathLst>
            </a:custGeom>
            <a:solidFill>
              <a:srgbClr val="C1FF72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812800" cy="18875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7611427" y="-1975557"/>
            <a:ext cx="1764194" cy="3883035"/>
            <a:chOff x="0" y="0"/>
            <a:chExt cx="812800" cy="178899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1788993"/>
            </a:xfrm>
            <a:custGeom>
              <a:avLst/>
              <a:gdLst/>
              <a:ahLst/>
              <a:cxnLst/>
              <a:rect r="r" b="b" t="t" l="l"/>
              <a:pathLst>
                <a:path h="178899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788993"/>
                  </a:lnTo>
                  <a:lnTo>
                    <a:pt x="0" y="1788993"/>
                  </a:lnTo>
                  <a:close/>
                </a:path>
              </a:pathLst>
            </a:custGeom>
            <a:solidFill>
              <a:srgbClr val="2E6417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812800" cy="1827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2732613" y="6172200"/>
            <a:ext cx="4183253" cy="4114800"/>
          </a:xfrm>
          <a:custGeom>
            <a:avLst/>
            <a:gdLst/>
            <a:ahLst/>
            <a:cxnLst/>
            <a:rect r="r" b="b" t="t" l="l"/>
            <a:pathLst>
              <a:path h="4114800" w="4183253">
                <a:moveTo>
                  <a:pt x="0" y="0"/>
                </a:moveTo>
                <a:lnTo>
                  <a:pt x="4183253" y="0"/>
                </a:lnTo>
                <a:lnTo>
                  <a:pt x="418325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565436" y="850989"/>
            <a:ext cx="8177067" cy="1440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83"/>
              </a:lnSpc>
            </a:pPr>
            <a:r>
              <a:rPr lang="en-US" sz="8003" b="true">
                <a:solidFill>
                  <a:srgbClr val="2E6417"/>
                </a:solidFill>
                <a:latin typeface="Karnchang SemiCondensed Bold"/>
                <a:ea typeface="Karnchang SemiCondensed Bold"/>
                <a:cs typeface="Karnchang SemiCondensed Bold"/>
                <a:sym typeface="Karnchang SemiCondensed Bold"/>
              </a:rPr>
              <a:t>Project Overview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565436" y="9239250"/>
            <a:ext cx="20019890" cy="0"/>
          </a:xfrm>
          <a:prstGeom prst="line">
            <a:avLst/>
          </a:prstGeom>
          <a:ln cap="flat" w="38100">
            <a:solidFill>
              <a:srgbClr val="17415F"/>
            </a:solidFill>
            <a:prstDash val="solid"/>
            <a:headEnd type="diamond" len="lg" w="lg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flipV="true">
            <a:off x="624662" y="-18432980"/>
            <a:ext cx="0" cy="20019890"/>
          </a:xfrm>
          <a:prstGeom prst="line">
            <a:avLst/>
          </a:prstGeom>
          <a:ln cap="flat" w="38100">
            <a:solidFill>
              <a:srgbClr val="17415F"/>
            </a:solidFill>
            <a:prstDash val="solid"/>
            <a:headEnd type="diamond" len="lg" w="lg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16915866" y="-251526"/>
            <a:ext cx="1764194" cy="4014219"/>
            <a:chOff x="0" y="0"/>
            <a:chExt cx="812800" cy="18494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1849432"/>
            </a:xfrm>
            <a:custGeom>
              <a:avLst/>
              <a:gdLst/>
              <a:ahLst/>
              <a:cxnLst/>
              <a:rect r="r" b="b" t="t" l="l"/>
              <a:pathLst>
                <a:path h="184943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849432"/>
                  </a:lnTo>
                  <a:lnTo>
                    <a:pt x="0" y="1849432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812800" cy="18875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915866" y="-1975557"/>
            <a:ext cx="1764194" cy="3883035"/>
            <a:chOff x="0" y="0"/>
            <a:chExt cx="812800" cy="178899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1788993"/>
            </a:xfrm>
            <a:custGeom>
              <a:avLst/>
              <a:gdLst/>
              <a:ahLst/>
              <a:cxnLst/>
              <a:rect r="r" b="b" t="t" l="l"/>
              <a:pathLst>
                <a:path h="178899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788993"/>
                  </a:lnTo>
                  <a:lnTo>
                    <a:pt x="0" y="1788993"/>
                  </a:lnTo>
                  <a:close/>
                </a:path>
              </a:pathLst>
            </a:custGeom>
            <a:solidFill>
              <a:srgbClr val="D9F4CD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812800" cy="1827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565436" y="2420212"/>
            <a:ext cx="5887565" cy="2310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968"/>
              </a:lnSpc>
            </a:pPr>
            <a:r>
              <a:rPr lang="en-US" b="true" sz="3549">
                <a:solidFill>
                  <a:srgbClr val="2E6417"/>
                </a:solidFill>
                <a:latin typeface="Quark Bold"/>
                <a:ea typeface="Quark Bold"/>
                <a:cs typeface="Quark Bold"/>
                <a:sym typeface="Quark Bold"/>
              </a:rPr>
              <a:t>Data Sources:</a:t>
            </a:r>
          </a:p>
          <a:p>
            <a:pPr algn="l" marL="688618" indent="-344309" lvl="1">
              <a:lnSpc>
                <a:spcPts val="4465"/>
              </a:lnSpc>
              <a:buFont typeface="Arial"/>
              <a:buChar char="•"/>
            </a:pPr>
            <a:r>
              <a:rPr lang="en-US" sz="3189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Orders Dataset</a:t>
            </a:r>
          </a:p>
          <a:p>
            <a:pPr algn="l" marL="688618" indent="-344309" lvl="1">
              <a:lnSpc>
                <a:spcPts val="4465"/>
              </a:lnSpc>
              <a:buFont typeface="Arial"/>
              <a:buChar char="•"/>
            </a:pPr>
            <a:r>
              <a:rPr lang="en-US" sz="3189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Order Items Dataset</a:t>
            </a:r>
          </a:p>
          <a:p>
            <a:pPr algn="l" marL="688618" indent="-344309" lvl="1">
              <a:lnSpc>
                <a:spcPts val="4465"/>
              </a:lnSpc>
              <a:buFont typeface="Arial"/>
              <a:buChar char="•"/>
            </a:pPr>
            <a:r>
              <a:rPr lang="en-US" sz="3189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Order Payments Dataset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7611427" y="-251526"/>
            <a:ext cx="1764194" cy="4014219"/>
            <a:chOff x="0" y="0"/>
            <a:chExt cx="812800" cy="184943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1849432"/>
            </a:xfrm>
            <a:custGeom>
              <a:avLst/>
              <a:gdLst/>
              <a:ahLst/>
              <a:cxnLst/>
              <a:rect r="r" b="b" t="t" l="l"/>
              <a:pathLst>
                <a:path h="184943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849432"/>
                  </a:lnTo>
                  <a:lnTo>
                    <a:pt x="0" y="1849432"/>
                  </a:lnTo>
                  <a:close/>
                </a:path>
              </a:pathLst>
            </a:custGeom>
            <a:solidFill>
              <a:srgbClr val="C1FF72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812800" cy="18875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7611427" y="-1975557"/>
            <a:ext cx="1764194" cy="3883035"/>
            <a:chOff x="0" y="0"/>
            <a:chExt cx="812800" cy="178899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1788993"/>
            </a:xfrm>
            <a:custGeom>
              <a:avLst/>
              <a:gdLst/>
              <a:ahLst/>
              <a:cxnLst/>
              <a:rect r="r" b="b" t="t" l="l"/>
              <a:pathLst>
                <a:path h="178899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788993"/>
                  </a:lnTo>
                  <a:lnTo>
                    <a:pt x="0" y="1788993"/>
                  </a:lnTo>
                  <a:close/>
                </a:path>
              </a:pathLst>
            </a:custGeom>
            <a:solidFill>
              <a:srgbClr val="2E6417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812800" cy="1827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true" flipV="false" rot="0">
            <a:off x="13457650" y="7094529"/>
            <a:ext cx="4153777" cy="2673522"/>
          </a:xfrm>
          <a:custGeom>
            <a:avLst/>
            <a:gdLst/>
            <a:ahLst/>
            <a:cxnLst/>
            <a:rect r="r" b="b" t="t" l="l"/>
            <a:pathLst>
              <a:path h="2673522" w="4153777">
                <a:moveTo>
                  <a:pt x="4153777" y="0"/>
                </a:moveTo>
                <a:lnTo>
                  <a:pt x="0" y="0"/>
                </a:lnTo>
                <a:lnTo>
                  <a:pt x="0" y="2673522"/>
                </a:lnTo>
                <a:lnTo>
                  <a:pt x="4153777" y="2673522"/>
                </a:lnTo>
                <a:lnTo>
                  <a:pt x="415377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565436" y="850989"/>
            <a:ext cx="9131534" cy="1440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83"/>
              </a:lnSpc>
            </a:pPr>
            <a:r>
              <a:rPr lang="en-US" sz="8003" b="true">
                <a:solidFill>
                  <a:srgbClr val="2E6417"/>
                </a:solidFill>
                <a:latin typeface="Karnchang SemiCondensed Bold"/>
                <a:ea typeface="Karnchang SemiCondensed Bold"/>
                <a:cs typeface="Karnchang SemiCondensed Bold"/>
                <a:sym typeface="Karnchang SemiCondensed Bold"/>
              </a:rPr>
              <a:t>Data Preparation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565436" y="4845034"/>
            <a:ext cx="11500890" cy="45550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924"/>
              </a:lnSpc>
            </a:pPr>
            <a:r>
              <a:rPr lang="en-US" b="true" sz="3517">
                <a:solidFill>
                  <a:srgbClr val="2E6417"/>
                </a:solidFill>
                <a:latin typeface="Quark Bold"/>
                <a:ea typeface="Quark Bold"/>
                <a:cs typeface="Quark Bold"/>
                <a:sym typeface="Quark Bold"/>
              </a:rPr>
              <a:t>Data Cleaning &amp; Transformation:</a:t>
            </a:r>
          </a:p>
          <a:p>
            <a:pPr algn="l" marL="684656" indent="-342328" lvl="1">
              <a:lnSpc>
                <a:spcPts val="4439"/>
              </a:lnSpc>
              <a:buFont typeface="Arial"/>
              <a:buChar char="•"/>
            </a:pPr>
            <a:r>
              <a:rPr lang="en-US" sz="3171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Removed duplicates</a:t>
            </a:r>
          </a:p>
          <a:p>
            <a:pPr algn="l" marL="684656" indent="-342328" lvl="1">
              <a:lnSpc>
                <a:spcPts val="4439"/>
              </a:lnSpc>
              <a:buFont typeface="Arial"/>
              <a:buChar char="•"/>
            </a:pPr>
            <a:r>
              <a:rPr lang="en-US" sz="3171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Handled missing values</a:t>
            </a:r>
          </a:p>
          <a:p>
            <a:pPr algn="l" marL="684656" indent="-342328" lvl="1">
              <a:lnSpc>
                <a:spcPts val="4439"/>
              </a:lnSpc>
              <a:buFont typeface="Arial"/>
              <a:buChar char="•"/>
            </a:pPr>
            <a:r>
              <a:rPr lang="en-US" sz="3171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C</a:t>
            </a:r>
            <a:r>
              <a:rPr lang="en-US" sz="3171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reated calculated columns</a:t>
            </a:r>
          </a:p>
          <a:p>
            <a:pPr algn="l" marL="684656" indent="-342328" lvl="1">
              <a:lnSpc>
                <a:spcPts val="4439"/>
              </a:lnSpc>
              <a:buFont typeface="Arial"/>
              <a:buChar char="•"/>
            </a:pPr>
            <a:r>
              <a:rPr lang="en-US" sz="3171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Built Payment Status</a:t>
            </a:r>
          </a:p>
          <a:p>
            <a:pPr algn="l" marL="706246" indent="-353123" lvl="1">
              <a:lnSpc>
                <a:spcPts val="4579"/>
              </a:lnSpc>
              <a:buFont typeface="Arial"/>
              <a:buChar char="•"/>
            </a:pPr>
            <a:r>
              <a:rPr lang="en-US" sz="3271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Calculated Delay Days</a:t>
            </a:r>
          </a:p>
          <a:p>
            <a:pPr algn="l" marL="684656" indent="-342328" lvl="1">
              <a:lnSpc>
                <a:spcPts val="4439"/>
              </a:lnSpc>
              <a:buFont typeface="Arial"/>
              <a:buChar char="•"/>
            </a:pPr>
            <a:r>
              <a:rPr lang="en-US" sz="3171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Created aggregated tables (ItemsNew &amp; PaymentsNew)</a:t>
            </a:r>
          </a:p>
          <a:p>
            <a:pPr algn="l">
              <a:lnSpc>
                <a:spcPts val="4299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E6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565436" y="9239250"/>
            <a:ext cx="20019890" cy="0"/>
          </a:xfrm>
          <a:prstGeom prst="line">
            <a:avLst/>
          </a:prstGeom>
          <a:ln cap="flat" w="38100">
            <a:solidFill>
              <a:srgbClr val="F0F7FE"/>
            </a:solidFill>
            <a:prstDash val="solid"/>
            <a:headEnd type="diamond" len="lg" w="lg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flipV="true">
            <a:off x="624662" y="-18432980"/>
            <a:ext cx="0" cy="20019890"/>
          </a:xfrm>
          <a:prstGeom prst="line">
            <a:avLst/>
          </a:prstGeom>
          <a:ln cap="flat" w="38100">
            <a:solidFill>
              <a:srgbClr val="F0F7FE"/>
            </a:solidFill>
            <a:prstDash val="solid"/>
            <a:headEnd type="diamond" len="lg" w="lg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16915866" y="-251526"/>
            <a:ext cx="1764194" cy="4014219"/>
            <a:chOff x="0" y="0"/>
            <a:chExt cx="812800" cy="18494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1849432"/>
            </a:xfrm>
            <a:custGeom>
              <a:avLst/>
              <a:gdLst/>
              <a:ahLst/>
              <a:cxnLst/>
              <a:rect r="r" b="b" t="t" l="l"/>
              <a:pathLst>
                <a:path h="184943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849432"/>
                  </a:lnTo>
                  <a:lnTo>
                    <a:pt x="0" y="1849432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812800" cy="18875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915866" y="-1975557"/>
            <a:ext cx="1764194" cy="3883035"/>
            <a:chOff x="0" y="0"/>
            <a:chExt cx="812800" cy="178899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1788993"/>
            </a:xfrm>
            <a:custGeom>
              <a:avLst/>
              <a:gdLst/>
              <a:ahLst/>
              <a:cxnLst/>
              <a:rect r="r" b="b" t="t" l="l"/>
              <a:pathLst>
                <a:path h="178899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788993"/>
                  </a:lnTo>
                  <a:lnTo>
                    <a:pt x="0" y="1788993"/>
                  </a:lnTo>
                  <a:close/>
                </a:path>
              </a:pathLst>
            </a:custGeom>
            <a:solidFill>
              <a:srgbClr val="D9F4CD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812800" cy="1827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7611427" y="-251526"/>
            <a:ext cx="1764194" cy="4014219"/>
            <a:chOff x="0" y="0"/>
            <a:chExt cx="812800" cy="184943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1849432"/>
            </a:xfrm>
            <a:custGeom>
              <a:avLst/>
              <a:gdLst/>
              <a:ahLst/>
              <a:cxnLst/>
              <a:rect r="r" b="b" t="t" l="l"/>
              <a:pathLst>
                <a:path h="184943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849432"/>
                  </a:lnTo>
                  <a:lnTo>
                    <a:pt x="0" y="1849432"/>
                  </a:lnTo>
                  <a:close/>
                </a:path>
              </a:pathLst>
            </a:custGeom>
            <a:solidFill>
              <a:srgbClr val="C1FF72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812800" cy="18875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7611427" y="-1975557"/>
            <a:ext cx="1764194" cy="3883035"/>
            <a:chOff x="0" y="0"/>
            <a:chExt cx="812800" cy="178899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1788993"/>
            </a:xfrm>
            <a:custGeom>
              <a:avLst/>
              <a:gdLst/>
              <a:ahLst/>
              <a:cxnLst/>
              <a:rect r="r" b="b" t="t" l="l"/>
              <a:pathLst>
                <a:path h="178899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788993"/>
                  </a:lnTo>
                  <a:lnTo>
                    <a:pt x="0" y="1788993"/>
                  </a:lnTo>
                  <a:close/>
                </a:path>
              </a:pathLst>
            </a:custGeom>
            <a:solidFill>
              <a:srgbClr val="2E6417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812800" cy="1827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5629575" y="6828296"/>
            <a:ext cx="2168388" cy="3223280"/>
          </a:xfrm>
          <a:custGeom>
            <a:avLst/>
            <a:gdLst/>
            <a:ahLst/>
            <a:cxnLst/>
            <a:rect r="r" b="b" t="t" l="l"/>
            <a:pathLst>
              <a:path h="3223280" w="2168388">
                <a:moveTo>
                  <a:pt x="0" y="0"/>
                </a:moveTo>
                <a:lnTo>
                  <a:pt x="2168388" y="0"/>
                </a:lnTo>
                <a:lnTo>
                  <a:pt x="2168388" y="3223280"/>
                </a:lnTo>
                <a:lnTo>
                  <a:pt x="0" y="32232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753124" y="3358119"/>
            <a:ext cx="7390876" cy="5616051"/>
          </a:xfrm>
          <a:custGeom>
            <a:avLst/>
            <a:gdLst/>
            <a:ahLst/>
            <a:cxnLst/>
            <a:rect r="r" b="b" t="t" l="l"/>
            <a:pathLst>
              <a:path h="5616051" w="7390876">
                <a:moveTo>
                  <a:pt x="0" y="0"/>
                </a:moveTo>
                <a:lnTo>
                  <a:pt x="7390876" y="0"/>
                </a:lnTo>
                <a:lnTo>
                  <a:pt x="7390876" y="5616052"/>
                </a:lnTo>
                <a:lnTo>
                  <a:pt x="0" y="561605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565436" y="2521294"/>
            <a:ext cx="7578564" cy="19541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543"/>
              </a:lnSpc>
            </a:pPr>
            <a:r>
              <a:rPr lang="en-US" sz="4674" b="true">
                <a:solidFill>
                  <a:srgbClr val="FFFFFF"/>
                </a:solidFill>
                <a:latin typeface="Quark Bold"/>
                <a:ea typeface="Quark Bold"/>
                <a:cs typeface="Quark Bold"/>
                <a:sym typeface="Quark Bold"/>
              </a:rPr>
              <a:t>Relationships:</a:t>
            </a:r>
          </a:p>
          <a:p>
            <a:pPr algn="just">
              <a:lnSpc>
                <a:spcPts val="5037"/>
              </a:lnSpc>
            </a:pPr>
          </a:p>
          <a:p>
            <a:pPr algn="just">
              <a:lnSpc>
                <a:spcPts val="3791"/>
              </a:lnSpc>
            </a:pPr>
          </a:p>
        </p:txBody>
      </p:sp>
      <p:sp>
        <p:nvSpPr>
          <p:cNvPr name="TextBox 19" id="19"/>
          <p:cNvSpPr txBox="true"/>
          <p:nvPr/>
        </p:nvSpPr>
        <p:spPr>
          <a:xfrm rot="0">
            <a:off x="1565436" y="850989"/>
            <a:ext cx="8532387" cy="14472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83"/>
              </a:lnSpc>
            </a:pPr>
            <a:r>
              <a:rPr lang="en-US" sz="8003" b="true">
                <a:solidFill>
                  <a:srgbClr val="FFFFFF"/>
                </a:solidFill>
                <a:latin typeface="Karnchang SemiCondensed Bold"/>
                <a:ea typeface="Karnchang SemiCondensed Bold"/>
                <a:cs typeface="Karnchang SemiCondensed Bold"/>
                <a:sym typeface="Karnchang SemiCondensed Bold"/>
              </a:rPr>
              <a:t>Data Modeling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097823" y="2521294"/>
            <a:ext cx="8188602" cy="54219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526"/>
              </a:lnSpc>
            </a:pPr>
            <a:r>
              <a:rPr lang="en-US" sz="4662" b="true">
                <a:solidFill>
                  <a:srgbClr val="FFFFFF"/>
                </a:solidFill>
                <a:latin typeface="Quark Bold"/>
                <a:ea typeface="Quark Bold"/>
                <a:cs typeface="Quark Bold"/>
                <a:sym typeface="Quark Bold"/>
              </a:rPr>
              <a:t>Measures Created:</a:t>
            </a:r>
          </a:p>
          <a:p>
            <a:pPr algn="just" marL="818742" indent="-409371" lvl="1">
              <a:lnSpc>
                <a:spcPts val="5309"/>
              </a:lnSpc>
              <a:buFont typeface="Arial"/>
              <a:buChar char="•"/>
            </a:pPr>
            <a:r>
              <a:rPr lang="en-US" sz="3792">
                <a:solidFill>
                  <a:srgbClr val="FFFFFF"/>
                </a:solidFill>
                <a:latin typeface="Quark"/>
                <a:ea typeface="Quark"/>
                <a:cs typeface="Quark"/>
                <a:sym typeface="Quark"/>
              </a:rPr>
              <a:t>Total Revenue</a:t>
            </a:r>
          </a:p>
          <a:p>
            <a:pPr algn="just" marL="818742" indent="-409371" lvl="1">
              <a:lnSpc>
                <a:spcPts val="5309"/>
              </a:lnSpc>
              <a:buFont typeface="Arial"/>
              <a:buChar char="•"/>
            </a:pPr>
            <a:r>
              <a:rPr lang="en-US" sz="3792">
                <a:solidFill>
                  <a:srgbClr val="FFFFFF"/>
                </a:solidFill>
                <a:latin typeface="Quark"/>
                <a:ea typeface="Quark"/>
                <a:cs typeface="Quark"/>
                <a:sym typeface="Quark"/>
              </a:rPr>
              <a:t>Expected Revenue</a:t>
            </a:r>
          </a:p>
          <a:p>
            <a:pPr algn="just" marL="818742" indent="-409371" lvl="1">
              <a:lnSpc>
                <a:spcPts val="5309"/>
              </a:lnSpc>
              <a:buFont typeface="Arial"/>
              <a:buChar char="•"/>
            </a:pPr>
            <a:r>
              <a:rPr lang="en-US" sz="3792">
                <a:solidFill>
                  <a:srgbClr val="FFFFFF"/>
                </a:solidFill>
                <a:latin typeface="Quark"/>
                <a:ea typeface="Quark"/>
                <a:cs typeface="Quark"/>
                <a:sym typeface="Quark"/>
              </a:rPr>
              <a:t>Total Payments Received</a:t>
            </a:r>
          </a:p>
          <a:p>
            <a:pPr algn="just" marL="818742" indent="-409371" lvl="1">
              <a:lnSpc>
                <a:spcPts val="5309"/>
              </a:lnSpc>
              <a:buFont typeface="Arial"/>
              <a:buChar char="•"/>
            </a:pPr>
            <a:r>
              <a:rPr lang="en-US" sz="3792">
                <a:solidFill>
                  <a:srgbClr val="FFFFFF"/>
                </a:solidFill>
                <a:latin typeface="Quark"/>
                <a:ea typeface="Quark"/>
                <a:cs typeface="Quark"/>
                <a:sym typeface="Quark"/>
              </a:rPr>
              <a:t>Revenue Reconciliation %</a:t>
            </a:r>
          </a:p>
          <a:p>
            <a:pPr algn="just" marL="818742" indent="-409371" lvl="1">
              <a:lnSpc>
                <a:spcPts val="5309"/>
              </a:lnSpc>
              <a:buFont typeface="Arial"/>
              <a:buChar char="•"/>
            </a:pPr>
            <a:r>
              <a:rPr lang="en-US" sz="3792">
                <a:solidFill>
                  <a:srgbClr val="FFFFFF"/>
                </a:solidFill>
                <a:latin typeface="Quark"/>
                <a:ea typeface="Quark"/>
                <a:cs typeface="Quark"/>
                <a:sym typeface="Quark"/>
              </a:rPr>
              <a:t>Late Orders</a:t>
            </a:r>
          </a:p>
          <a:p>
            <a:pPr algn="just" marL="818742" indent="-409371" lvl="1">
              <a:lnSpc>
                <a:spcPts val="5309"/>
              </a:lnSpc>
              <a:buFont typeface="Arial"/>
              <a:buChar char="•"/>
            </a:pPr>
            <a:r>
              <a:rPr lang="en-US" sz="3792">
                <a:solidFill>
                  <a:srgbClr val="FFFFFF"/>
                </a:solidFill>
                <a:latin typeface="Quark"/>
                <a:ea typeface="Quark"/>
                <a:cs typeface="Quark"/>
                <a:sym typeface="Quark"/>
              </a:rPr>
              <a:t>Average Delay Days</a:t>
            </a:r>
          </a:p>
          <a:p>
            <a:pPr algn="just">
              <a:lnSpc>
                <a:spcPts val="4395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565436" y="9239250"/>
            <a:ext cx="20019890" cy="0"/>
          </a:xfrm>
          <a:prstGeom prst="line">
            <a:avLst/>
          </a:prstGeom>
          <a:ln cap="flat" w="38100">
            <a:solidFill>
              <a:srgbClr val="2E6417"/>
            </a:solidFill>
            <a:prstDash val="solid"/>
            <a:headEnd type="diamond" len="lg" w="lg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flipV="true">
            <a:off x="624662" y="-18432980"/>
            <a:ext cx="0" cy="20019890"/>
          </a:xfrm>
          <a:prstGeom prst="line">
            <a:avLst/>
          </a:prstGeom>
          <a:ln cap="flat" w="38100">
            <a:solidFill>
              <a:srgbClr val="2E6417"/>
            </a:solidFill>
            <a:prstDash val="solid"/>
            <a:headEnd type="diamond" len="lg" w="lg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16915866" y="-251526"/>
            <a:ext cx="1764194" cy="4014219"/>
            <a:chOff x="0" y="0"/>
            <a:chExt cx="812800" cy="18494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1849432"/>
            </a:xfrm>
            <a:custGeom>
              <a:avLst/>
              <a:gdLst/>
              <a:ahLst/>
              <a:cxnLst/>
              <a:rect r="r" b="b" t="t" l="l"/>
              <a:pathLst>
                <a:path h="184943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849432"/>
                  </a:lnTo>
                  <a:lnTo>
                    <a:pt x="0" y="1849432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812800" cy="18875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915866" y="-1975557"/>
            <a:ext cx="1764194" cy="3883035"/>
            <a:chOff x="0" y="0"/>
            <a:chExt cx="812800" cy="178899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1788993"/>
            </a:xfrm>
            <a:custGeom>
              <a:avLst/>
              <a:gdLst/>
              <a:ahLst/>
              <a:cxnLst/>
              <a:rect r="r" b="b" t="t" l="l"/>
              <a:pathLst>
                <a:path h="178899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788993"/>
                  </a:lnTo>
                  <a:lnTo>
                    <a:pt x="0" y="1788993"/>
                  </a:lnTo>
                  <a:close/>
                </a:path>
              </a:pathLst>
            </a:custGeom>
            <a:solidFill>
              <a:srgbClr val="E4FFC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812800" cy="1827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7611427" y="-251526"/>
            <a:ext cx="1764194" cy="4014219"/>
            <a:chOff x="0" y="0"/>
            <a:chExt cx="812800" cy="184943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1849432"/>
            </a:xfrm>
            <a:custGeom>
              <a:avLst/>
              <a:gdLst/>
              <a:ahLst/>
              <a:cxnLst/>
              <a:rect r="r" b="b" t="t" l="l"/>
              <a:pathLst>
                <a:path h="184943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849432"/>
                  </a:lnTo>
                  <a:lnTo>
                    <a:pt x="0" y="1849432"/>
                  </a:lnTo>
                  <a:close/>
                </a:path>
              </a:pathLst>
            </a:custGeom>
            <a:solidFill>
              <a:srgbClr val="2E6417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812800" cy="18875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7611427" y="-1975557"/>
            <a:ext cx="1764194" cy="3883035"/>
            <a:chOff x="0" y="0"/>
            <a:chExt cx="812800" cy="178899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1788993"/>
            </a:xfrm>
            <a:custGeom>
              <a:avLst/>
              <a:gdLst/>
              <a:ahLst/>
              <a:cxnLst/>
              <a:rect r="r" b="b" t="t" l="l"/>
              <a:pathLst>
                <a:path h="178899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788993"/>
                  </a:lnTo>
                  <a:lnTo>
                    <a:pt x="0" y="1788993"/>
                  </a:lnTo>
                  <a:close/>
                </a:path>
              </a:pathLst>
            </a:custGeom>
            <a:solidFill>
              <a:srgbClr val="C1FF72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812800" cy="1827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5283759" y="6743781"/>
            <a:ext cx="1975541" cy="3186356"/>
          </a:xfrm>
          <a:custGeom>
            <a:avLst/>
            <a:gdLst/>
            <a:ahLst/>
            <a:cxnLst/>
            <a:rect r="r" b="b" t="t" l="l"/>
            <a:pathLst>
              <a:path h="3186356" w="1975541">
                <a:moveTo>
                  <a:pt x="0" y="0"/>
                </a:moveTo>
                <a:lnTo>
                  <a:pt x="1975541" y="0"/>
                </a:lnTo>
                <a:lnTo>
                  <a:pt x="1975541" y="3186356"/>
                </a:lnTo>
                <a:lnTo>
                  <a:pt x="0" y="31863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565436" y="2522749"/>
            <a:ext cx="14534845" cy="2117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337"/>
              </a:lnSpc>
            </a:pPr>
            <a:r>
              <a:rPr lang="en-US" b="true" sz="3812">
                <a:solidFill>
                  <a:srgbClr val="2E6417"/>
                </a:solidFill>
                <a:latin typeface="Quark Bold"/>
                <a:ea typeface="Quark Bold"/>
                <a:cs typeface="Quark Bold"/>
                <a:sym typeface="Quark Bold"/>
              </a:rPr>
              <a:t>Financial Overview:</a:t>
            </a:r>
          </a:p>
          <a:p>
            <a:pPr algn="just">
              <a:lnSpc>
                <a:spcPts val="3760"/>
              </a:lnSpc>
            </a:pPr>
          </a:p>
          <a:p>
            <a:pPr algn="just">
              <a:lnSpc>
                <a:spcPts val="3760"/>
              </a:lnSpc>
            </a:pPr>
          </a:p>
          <a:p>
            <a:pPr algn="just">
              <a:lnSpc>
                <a:spcPts val="3760"/>
              </a:lnSpc>
            </a:pP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1885186" y="5295623"/>
            <a:ext cx="4095228" cy="1467065"/>
          </a:xfrm>
          <a:custGeom>
            <a:avLst/>
            <a:gdLst/>
            <a:ahLst/>
            <a:cxnLst/>
            <a:rect r="r" b="b" t="t" l="l"/>
            <a:pathLst>
              <a:path h="1467065" w="4095228">
                <a:moveTo>
                  <a:pt x="0" y="0"/>
                </a:moveTo>
                <a:lnTo>
                  <a:pt x="4095229" y="0"/>
                </a:lnTo>
                <a:lnTo>
                  <a:pt x="4095229" y="1467064"/>
                </a:lnTo>
                <a:lnTo>
                  <a:pt x="0" y="14670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984164" y="5251284"/>
            <a:ext cx="5206631" cy="1511403"/>
          </a:xfrm>
          <a:custGeom>
            <a:avLst/>
            <a:gdLst/>
            <a:ahLst/>
            <a:cxnLst/>
            <a:rect r="r" b="b" t="t" l="l"/>
            <a:pathLst>
              <a:path h="1511403" w="5206631">
                <a:moveTo>
                  <a:pt x="0" y="0"/>
                </a:moveTo>
                <a:lnTo>
                  <a:pt x="5206631" y="0"/>
                </a:lnTo>
                <a:lnTo>
                  <a:pt x="5206631" y="1511403"/>
                </a:lnTo>
                <a:lnTo>
                  <a:pt x="0" y="15114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771" r="0" b="-771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6984164" y="3348181"/>
            <a:ext cx="5206631" cy="1504032"/>
          </a:xfrm>
          <a:custGeom>
            <a:avLst/>
            <a:gdLst/>
            <a:ahLst/>
            <a:cxnLst/>
            <a:rect r="r" b="b" t="t" l="l"/>
            <a:pathLst>
              <a:path h="1504032" w="5206631">
                <a:moveTo>
                  <a:pt x="0" y="0"/>
                </a:moveTo>
                <a:lnTo>
                  <a:pt x="5206631" y="0"/>
                </a:lnTo>
                <a:lnTo>
                  <a:pt x="5206631" y="1504032"/>
                </a:lnTo>
                <a:lnTo>
                  <a:pt x="0" y="15040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717" t="-592" r="-3040" b="-592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920683" y="3348181"/>
            <a:ext cx="4024235" cy="1504032"/>
          </a:xfrm>
          <a:custGeom>
            <a:avLst/>
            <a:gdLst/>
            <a:ahLst/>
            <a:cxnLst/>
            <a:rect r="r" b="b" t="t" l="l"/>
            <a:pathLst>
              <a:path h="1504032" w="4024235">
                <a:moveTo>
                  <a:pt x="0" y="0"/>
                </a:moveTo>
                <a:lnTo>
                  <a:pt x="4024235" y="0"/>
                </a:lnTo>
                <a:lnTo>
                  <a:pt x="4024235" y="1504032"/>
                </a:lnTo>
                <a:lnTo>
                  <a:pt x="0" y="150403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-2678" r="-1051" b="-2678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849690" y="6972381"/>
            <a:ext cx="11029163" cy="33158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432"/>
              </a:lnSpc>
            </a:pPr>
            <a:r>
              <a:rPr lang="en-US" b="true" sz="3880">
                <a:solidFill>
                  <a:srgbClr val="2E6417"/>
                </a:solidFill>
                <a:latin typeface="Quark Bold"/>
                <a:ea typeface="Quark Bold"/>
                <a:cs typeface="Quark Bold"/>
                <a:sym typeface="Quark Bold"/>
              </a:rPr>
              <a:t>Key Insight:</a:t>
            </a:r>
          </a:p>
          <a:p>
            <a:pPr algn="just">
              <a:lnSpc>
                <a:spcPts val="4592"/>
              </a:lnSpc>
            </a:pPr>
            <a:r>
              <a:rPr lang="en-US" sz="3280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Revenue collection is highly aligned with expected revenue, achieving over 97% reconciliation.</a:t>
            </a:r>
          </a:p>
          <a:p>
            <a:pPr algn="just">
              <a:lnSpc>
                <a:spcPts val="3892"/>
              </a:lnSpc>
            </a:pPr>
          </a:p>
          <a:p>
            <a:pPr algn="just">
              <a:lnSpc>
                <a:spcPts val="3892"/>
              </a:lnSpc>
            </a:pPr>
          </a:p>
          <a:p>
            <a:pPr algn="just">
              <a:lnSpc>
                <a:spcPts val="3892"/>
              </a:lnSpc>
            </a:pPr>
          </a:p>
        </p:txBody>
      </p:sp>
      <p:sp>
        <p:nvSpPr>
          <p:cNvPr name="TextBox 23" id="23"/>
          <p:cNvSpPr txBox="true"/>
          <p:nvPr/>
        </p:nvSpPr>
        <p:spPr>
          <a:xfrm rot="0">
            <a:off x="1565436" y="850989"/>
            <a:ext cx="8532387" cy="1440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83"/>
              </a:lnSpc>
            </a:pPr>
            <a:r>
              <a:rPr lang="en-US" sz="8003" b="true">
                <a:solidFill>
                  <a:srgbClr val="2E6417"/>
                </a:solidFill>
                <a:latin typeface="Karnchang SemiCondensed Bold"/>
                <a:ea typeface="Karnchang SemiCondensed Bold"/>
                <a:cs typeface="Karnchang SemiCondensed Bold"/>
                <a:sym typeface="Karnchang SemiCondensed Bold"/>
              </a:rPr>
              <a:t>Dashboard KPIs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565436" y="9239250"/>
            <a:ext cx="20019890" cy="0"/>
          </a:xfrm>
          <a:prstGeom prst="line">
            <a:avLst/>
          </a:prstGeom>
          <a:ln cap="flat" w="38100">
            <a:solidFill>
              <a:srgbClr val="2E6417"/>
            </a:solidFill>
            <a:prstDash val="solid"/>
            <a:headEnd type="diamond" len="lg" w="lg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flipV="true">
            <a:off x="624662" y="-18432980"/>
            <a:ext cx="0" cy="20019890"/>
          </a:xfrm>
          <a:prstGeom prst="line">
            <a:avLst/>
          </a:prstGeom>
          <a:ln cap="flat" w="38100">
            <a:solidFill>
              <a:srgbClr val="2E6417"/>
            </a:solidFill>
            <a:prstDash val="solid"/>
            <a:headEnd type="diamond" len="lg" w="lg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17058122" y="-1359025"/>
            <a:ext cx="2248197" cy="3737039"/>
            <a:chOff x="0" y="0"/>
            <a:chExt cx="2997596" cy="4982719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1497035"/>
              <a:ext cx="2149946" cy="3485684"/>
              <a:chOff x="0" y="0"/>
              <a:chExt cx="742893" cy="1204444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742893" cy="1204444"/>
              </a:xfrm>
              <a:custGeom>
                <a:avLst/>
                <a:gdLst/>
                <a:ahLst/>
                <a:cxnLst/>
                <a:rect r="r" b="b" t="t" l="l"/>
                <a:pathLst>
                  <a:path h="1204444" w="742893">
                    <a:moveTo>
                      <a:pt x="0" y="0"/>
                    </a:moveTo>
                    <a:lnTo>
                      <a:pt x="742893" y="0"/>
                    </a:lnTo>
                    <a:lnTo>
                      <a:pt x="742893" y="1204444"/>
                    </a:lnTo>
                    <a:lnTo>
                      <a:pt x="0" y="1204444"/>
                    </a:lnTo>
                    <a:close/>
                  </a:path>
                </a:pathLst>
              </a:custGeom>
              <a:solidFill>
                <a:srgbClr val="7ED957"/>
              </a:solidFill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38100"/>
                <a:ext cx="742893" cy="124254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8" id="8"/>
            <p:cNvGrpSpPr/>
            <p:nvPr/>
          </p:nvGrpSpPr>
          <p:grpSpPr>
            <a:xfrm rot="0">
              <a:off x="0" y="0"/>
              <a:ext cx="2149946" cy="3371772"/>
              <a:chOff x="0" y="0"/>
              <a:chExt cx="742893" cy="1165083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742893" cy="1165083"/>
              </a:xfrm>
              <a:custGeom>
                <a:avLst/>
                <a:gdLst/>
                <a:ahLst/>
                <a:cxnLst/>
                <a:rect r="r" b="b" t="t" l="l"/>
                <a:pathLst>
                  <a:path h="1165083" w="742893">
                    <a:moveTo>
                      <a:pt x="0" y="0"/>
                    </a:moveTo>
                    <a:lnTo>
                      <a:pt x="742893" y="0"/>
                    </a:lnTo>
                    <a:lnTo>
                      <a:pt x="742893" y="1165083"/>
                    </a:lnTo>
                    <a:lnTo>
                      <a:pt x="0" y="1165083"/>
                    </a:lnTo>
                    <a:close/>
                  </a:path>
                </a:pathLst>
              </a:custGeom>
              <a:solidFill>
                <a:srgbClr val="E4FFC2"/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742893" cy="120318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1" id="11"/>
            <p:cNvGrpSpPr/>
            <p:nvPr/>
          </p:nvGrpSpPr>
          <p:grpSpPr>
            <a:xfrm rot="0">
              <a:off x="847650" y="1497035"/>
              <a:ext cx="2149946" cy="3485684"/>
              <a:chOff x="0" y="0"/>
              <a:chExt cx="742893" cy="1204444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742893" cy="1204444"/>
              </a:xfrm>
              <a:custGeom>
                <a:avLst/>
                <a:gdLst/>
                <a:ahLst/>
                <a:cxnLst/>
                <a:rect r="r" b="b" t="t" l="l"/>
                <a:pathLst>
                  <a:path h="1204444" w="742893">
                    <a:moveTo>
                      <a:pt x="0" y="0"/>
                    </a:moveTo>
                    <a:lnTo>
                      <a:pt x="742893" y="0"/>
                    </a:lnTo>
                    <a:lnTo>
                      <a:pt x="742893" y="1204444"/>
                    </a:lnTo>
                    <a:lnTo>
                      <a:pt x="0" y="1204444"/>
                    </a:lnTo>
                    <a:close/>
                  </a:path>
                </a:pathLst>
              </a:custGeom>
              <a:solidFill>
                <a:srgbClr val="C1FF72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38100"/>
                <a:ext cx="742893" cy="124254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4" id="14"/>
            <p:cNvGrpSpPr/>
            <p:nvPr/>
          </p:nvGrpSpPr>
          <p:grpSpPr>
            <a:xfrm rot="0">
              <a:off x="847650" y="0"/>
              <a:ext cx="2149946" cy="3371772"/>
              <a:chOff x="0" y="0"/>
              <a:chExt cx="742893" cy="1165083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742893" cy="1165083"/>
              </a:xfrm>
              <a:custGeom>
                <a:avLst/>
                <a:gdLst/>
                <a:ahLst/>
                <a:cxnLst/>
                <a:rect r="r" b="b" t="t" l="l"/>
                <a:pathLst>
                  <a:path h="1165083" w="742893">
                    <a:moveTo>
                      <a:pt x="0" y="0"/>
                    </a:moveTo>
                    <a:lnTo>
                      <a:pt x="742893" y="0"/>
                    </a:lnTo>
                    <a:lnTo>
                      <a:pt x="742893" y="1165083"/>
                    </a:lnTo>
                    <a:lnTo>
                      <a:pt x="0" y="1165083"/>
                    </a:lnTo>
                    <a:close/>
                  </a:path>
                </a:pathLst>
              </a:custGeom>
              <a:solidFill>
                <a:srgbClr val="2E6417"/>
              </a:solid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0" y="-38100"/>
                <a:ext cx="742893" cy="120318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Freeform 17" id="17"/>
          <p:cNvSpPr/>
          <p:nvPr/>
        </p:nvSpPr>
        <p:spPr>
          <a:xfrm flipH="false" flipV="false" rot="0">
            <a:off x="14250770" y="6942116"/>
            <a:ext cx="2807352" cy="3088087"/>
          </a:xfrm>
          <a:custGeom>
            <a:avLst/>
            <a:gdLst/>
            <a:ahLst/>
            <a:cxnLst/>
            <a:rect r="r" b="b" t="t" l="l"/>
            <a:pathLst>
              <a:path h="3088087" w="2807352">
                <a:moveTo>
                  <a:pt x="0" y="0"/>
                </a:moveTo>
                <a:lnTo>
                  <a:pt x="2807352" y="0"/>
                </a:lnTo>
                <a:lnTo>
                  <a:pt x="2807352" y="3088087"/>
                </a:lnTo>
                <a:lnTo>
                  <a:pt x="0" y="30880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1345764" y="2378014"/>
            <a:ext cx="6836457" cy="3707715"/>
          </a:xfrm>
          <a:custGeom>
            <a:avLst/>
            <a:gdLst/>
            <a:ahLst/>
            <a:cxnLst/>
            <a:rect r="r" b="b" t="t" l="l"/>
            <a:pathLst>
              <a:path h="3707715" w="6836457">
                <a:moveTo>
                  <a:pt x="0" y="0"/>
                </a:moveTo>
                <a:lnTo>
                  <a:pt x="6836457" y="0"/>
                </a:lnTo>
                <a:lnTo>
                  <a:pt x="6836457" y="3707714"/>
                </a:lnTo>
                <a:lnTo>
                  <a:pt x="0" y="37077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651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24662" y="5409469"/>
            <a:ext cx="10547802" cy="3719488"/>
          </a:xfrm>
          <a:custGeom>
            <a:avLst/>
            <a:gdLst/>
            <a:ahLst/>
            <a:cxnLst/>
            <a:rect r="r" b="b" t="t" l="l"/>
            <a:pathLst>
              <a:path h="3719488" w="10547802">
                <a:moveTo>
                  <a:pt x="0" y="0"/>
                </a:moveTo>
                <a:lnTo>
                  <a:pt x="10547802" y="0"/>
                </a:lnTo>
                <a:lnTo>
                  <a:pt x="10547802" y="3719488"/>
                </a:lnTo>
                <a:lnTo>
                  <a:pt x="0" y="37194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565436" y="850989"/>
            <a:ext cx="10677525" cy="1440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83"/>
              </a:lnSpc>
            </a:pPr>
            <a:r>
              <a:rPr lang="en-US" sz="8003" b="true">
                <a:solidFill>
                  <a:srgbClr val="2E6417"/>
                </a:solidFill>
                <a:latin typeface="Karnchang SemiCondensed Bold"/>
                <a:ea typeface="Karnchang SemiCondensed Bold"/>
                <a:cs typeface="Karnchang SemiCondensed Bold"/>
                <a:sym typeface="Karnchang SemiCondensed Bold"/>
              </a:rPr>
              <a:t>Order &amp; Revenue Analysis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565436" y="2282764"/>
            <a:ext cx="14853353" cy="12004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410"/>
              </a:lnSpc>
            </a:pPr>
            <a:r>
              <a:rPr lang="en-US" b="true" sz="3864">
                <a:solidFill>
                  <a:srgbClr val="2E6417"/>
                </a:solidFill>
                <a:latin typeface="Quark Bold"/>
                <a:ea typeface="Quark Bold"/>
                <a:cs typeface="Quark Bold"/>
                <a:sym typeface="Quark Bold"/>
              </a:rPr>
              <a:t>Findings</a:t>
            </a:r>
            <a:r>
              <a:rPr lang="en-US" sz="3864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:</a:t>
            </a:r>
          </a:p>
          <a:p>
            <a:pPr algn="just">
              <a:lnSpc>
                <a:spcPts val="4010"/>
              </a:lnSpc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1565436" y="3004124"/>
            <a:ext cx="9343905" cy="39379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12276" indent="-306138" lvl="1">
              <a:lnSpc>
                <a:spcPts val="3970"/>
              </a:lnSpc>
              <a:buFont typeface="Arial"/>
              <a:buChar char="•"/>
            </a:pPr>
            <a:r>
              <a:rPr lang="en-US" sz="2835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Orders increased significantly during 2017–2018.</a:t>
            </a:r>
          </a:p>
          <a:p>
            <a:pPr algn="just" marL="612276" indent="-306138" lvl="1">
              <a:lnSpc>
                <a:spcPts val="3970"/>
              </a:lnSpc>
              <a:buFont typeface="Arial"/>
              <a:buChar char="•"/>
            </a:pPr>
            <a:r>
              <a:rPr lang="en-US" sz="2835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Delivered orders represent the majority of all orders.</a:t>
            </a:r>
          </a:p>
          <a:p>
            <a:pPr algn="just" marL="612276" indent="-306138" lvl="1">
              <a:lnSpc>
                <a:spcPts val="3970"/>
              </a:lnSpc>
              <a:buFont typeface="Arial"/>
              <a:buChar char="•"/>
            </a:pPr>
            <a:r>
              <a:rPr lang="en-US" sz="2835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Revenue showed consistent growth over time.</a:t>
            </a:r>
          </a:p>
          <a:p>
            <a:pPr algn="just" marL="593382" indent="-296691" lvl="1">
              <a:lnSpc>
                <a:spcPts val="3847"/>
              </a:lnSpc>
              <a:buFont typeface="Arial"/>
              <a:buChar char="•"/>
            </a:pPr>
            <a:r>
              <a:rPr lang="en-US" sz="2748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Average Order Value remained relatively stable.</a:t>
            </a:r>
          </a:p>
          <a:p>
            <a:pPr algn="just">
              <a:lnSpc>
                <a:spcPts val="3970"/>
              </a:lnSpc>
            </a:pPr>
            <a:r>
              <a:rPr lang="en-US" sz="2835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 </a:t>
            </a:r>
          </a:p>
          <a:p>
            <a:pPr algn="just">
              <a:lnSpc>
                <a:spcPts val="3970"/>
              </a:lnSpc>
            </a:pPr>
          </a:p>
          <a:p>
            <a:pPr algn="just">
              <a:lnSpc>
                <a:spcPts val="3970"/>
              </a:lnSpc>
            </a:pPr>
          </a:p>
          <a:p>
            <a:pPr algn="just">
              <a:lnSpc>
                <a:spcPts val="3970"/>
              </a:lnSpc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565436" y="9239250"/>
            <a:ext cx="20019890" cy="0"/>
          </a:xfrm>
          <a:prstGeom prst="line">
            <a:avLst/>
          </a:prstGeom>
          <a:ln cap="flat" w="38100">
            <a:solidFill>
              <a:srgbClr val="2E6417"/>
            </a:solidFill>
            <a:prstDash val="solid"/>
            <a:headEnd type="diamond" len="lg" w="lg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flipV="true">
            <a:off x="624662" y="-18432980"/>
            <a:ext cx="0" cy="20019890"/>
          </a:xfrm>
          <a:prstGeom prst="line">
            <a:avLst/>
          </a:prstGeom>
          <a:ln cap="flat" w="38100">
            <a:solidFill>
              <a:srgbClr val="2E6417"/>
            </a:solidFill>
            <a:prstDash val="solid"/>
            <a:headEnd type="diamond" len="lg" w="lg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16915866" y="-251526"/>
            <a:ext cx="1764194" cy="4014219"/>
            <a:chOff x="0" y="0"/>
            <a:chExt cx="812800" cy="18494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1849432"/>
            </a:xfrm>
            <a:custGeom>
              <a:avLst/>
              <a:gdLst/>
              <a:ahLst/>
              <a:cxnLst/>
              <a:rect r="r" b="b" t="t" l="l"/>
              <a:pathLst>
                <a:path h="184943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849432"/>
                  </a:lnTo>
                  <a:lnTo>
                    <a:pt x="0" y="1849432"/>
                  </a:lnTo>
                  <a:close/>
                </a:path>
              </a:pathLst>
            </a:custGeom>
            <a:solidFill>
              <a:srgbClr val="00BF63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812800" cy="18875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915866" y="-1975557"/>
            <a:ext cx="1764194" cy="3883035"/>
            <a:chOff x="0" y="0"/>
            <a:chExt cx="812800" cy="178899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1788993"/>
            </a:xfrm>
            <a:custGeom>
              <a:avLst/>
              <a:gdLst/>
              <a:ahLst/>
              <a:cxnLst/>
              <a:rect r="r" b="b" t="t" l="l"/>
              <a:pathLst>
                <a:path h="178899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788993"/>
                  </a:lnTo>
                  <a:lnTo>
                    <a:pt x="0" y="1788993"/>
                  </a:lnTo>
                  <a:close/>
                </a:path>
              </a:pathLst>
            </a:custGeom>
            <a:solidFill>
              <a:srgbClr val="E4FFC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812800" cy="1827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7611427" y="-251526"/>
            <a:ext cx="1764194" cy="4014219"/>
            <a:chOff x="0" y="0"/>
            <a:chExt cx="812800" cy="184943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1849432"/>
            </a:xfrm>
            <a:custGeom>
              <a:avLst/>
              <a:gdLst/>
              <a:ahLst/>
              <a:cxnLst/>
              <a:rect r="r" b="b" t="t" l="l"/>
              <a:pathLst>
                <a:path h="184943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849432"/>
                  </a:lnTo>
                  <a:lnTo>
                    <a:pt x="0" y="1849432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812800" cy="18875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7611427" y="-1975557"/>
            <a:ext cx="1764194" cy="3883035"/>
            <a:chOff x="0" y="0"/>
            <a:chExt cx="812800" cy="178899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1788993"/>
            </a:xfrm>
            <a:custGeom>
              <a:avLst/>
              <a:gdLst/>
              <a:ahLst/>
              <a:cxnLst/>
              <a:rect r="r" b="b" t="t" l="l"/>
              <a:pathLst>
                <a:path h="178899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788993"/>
                  </a:lnTo>
                  <a:lnTo>
                    <a:pt x="0" y="1788993"/>
                  </a:lnTo>
                  <a:close/>
                </a:path>
              </a:pathLst>
            </a:custGeom>
            <a:solidFill>
              <a:srgbClr val="2E6417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812800" cy="1827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5935062" y="6652997"/>
            <a:ext cx="1862901" cy="3004680"/>
          </a:xfrm>
          <a:custGeom>
            <a:avLst/>
            <a:gdLst/>
            <a:ahLst/>
            <a:cxnLst/>
            <a:rect r="r" b="b" t="t" l="l"/>
            <a:pathLst>
              <a:path h="3004680" w="1862901">
                <a:moveTo>
                  <a:pt x="0" y="0"/>
                </a:moveTo>
                <a:lnTo>
                  <a:pt x="1862901" y="0"/>
                </a:lnTo>
                <a:lnTo>
                  <a:pt x="1862901" y="3004679"/>
                </a:lnTo>
                <a:lnTo>
                  <a:pt x="0" y="30046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821581" y="5361429"/>
            <a:ext cx="13794421" cy="3638279"/>
          </a:xfrm>
          <a:custGeom>
            <a:avLst/>
            <a:gdLst/>
            <a:ahLst/>
            <a:cxnLst/>
            <a:rect r="r" b="b" t="t" l="l"/>
            <a:pathLst>
              <a:path h="3638279" w="13794421">
                <a:moveTo>
                  <a:pt x="0" y="0"/>
                </a:moveTo>
                <a:lnTo>
                  <a:pt x="13794422" y="0"/>
                </a:lnTo>
                <a:lnTo>
                  <a:pt x="13794422" y="3638279"/>
                </a:lnTo>
                <a:lnTo>
                  <a:pt x="0" y="36382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565436" y="2554500"/>
            <a:ext cx="7578564" cy="4161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353"/>
              </a:lnSpc>
            </a:pPr>
            <a:r>
              <a:rPr lang="en-US" sz="3823" b="true">
                <a:solidFill>
                  <a:srgbClr val="2E6417"/>
                </a:solidFill>
                <a:latin typeface="Quark Bold"/>
                <a:ea typeface="Quark Bold"/>
                <a:cs typeface="Quark Bold"/>
                <a:sym typeface="Quark Bold"/>
              </a:rPr>
              <a:t>Findings:</a:t>
            </a:r>
          </a:p>
          <a:p>
            <a:pPr algn="just" marL="608320" indent="-304160" lvl="1">
              <a:lnSpc>
                <a:spcPts val="3944"/>
              </a:lnSpc>
              <a:buFont typeface="Arial"/>
              <a:buChar char="•"/>
            </a:pPr>
            <a:r>
              <a:rPr lang="en-US" sz="2817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Most orders were delivered on time.</a:t>
            </a:r>
          </a:p>
          <a:p>
            <a:pPr algn="just" marL="608320" indent="-304160" lvl="1">
              <a:lnSpc>
                <a:spcPts val="3944"/>
              </a:lnSpc>
              <a:buFont typeface="Arial"/>
              <a:buChar char="•"/>
            </a:pPr>
            <a:r>
              <a:rPr lang="en-US" sz="2817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Average delivery delay remained below one day.</a:t>
            </a:r>
          </a:p>
          <a:p>
            <a:pPr algn="just" marL="608320" indent="-304160" lvl="1">
              <a:lnSpc>
                <a:spcPts val="3944"/>
              </a:lnSpc>
              <a:buFont typeface="Arial"/>
              <a:buChar char="•"/>
            </a:pPr>
            <a:r>
              <a:rPr lang="en-US" sz="2817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Late deliveries represented a relatively small percentage of total orders.</a:t>
            </a:r>
          </a:p>
          <a:p>
            <a:pPr algn="just">
              <a:lnSpc>
                <a:spcPts val="3944"/>
              </a:lnSpc>
            </a:pPr>
          </a:p>
          <a:p>
            <a:pPr algn="just">
              <a:lnSpc>
                <a:spcPts val="3944"/>
              </a:lnSpc>
            </a:pPr>
          </a:p>
          <a:p>
            <a:pPr algn="just">
              <a:lnSpc>
                <a:spcPts val="3944"/>
              </a:lnSpc>
            </a:pPr>
          </a:p>
        </p:txBody>
      </p:sp>
      <p:sp>
        <p:nvSpPr>
          <p:cNvPr name="TextBox 19" id="19"/>
          <p:cNvSpPr txBox="true"/>
          <p:nvPr/>
        </p:nvSpPr>
        <p:spPr>
          <a:xfrm rot="0">
            <a:off x="1565436" y="850989"/>
            <a:ext cx="8018324" cy="1440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83"/>
              </a:lnSpc>
            </a:pPr>
            <a:r>
              <a:rPr lang="en-US" sz="8003" b="true">
                <a:solidFill>
                  <a:srgbClr val="2E6417"/>
                </a:solidFill>
                <a:latin typeface="Karnchang SemiCondensed Bold"/>
                <a:ea typeface="Karnchang SemiCondensed Bold"/>
                <a:cs typeface="Karnchang SemiCondensed Bold"/>
                <a:sym typeface="Karnchang SemiCondensed Bold"/>
              </a:rPr>
              <a:t>Delivery Insights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308636" y="2554500"/>
            <a:ext cx="6138156" cy="36564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104"/>
              </a:lnSpc>
            </a:pPr>
            <a:r>
              <a:rPr lang="en-US" sz="3646" b="true">
                <a:solidFill>
                  <a:srgbClr val="2E6417"/>
                </a:solidFill>
                <a:latin typeface="Quark Bold"/>
                <a:ea typeface="Quark Bold"/>
                <a:cs typeface="Quark Bold"/>
                <a:sym typeface="Quark Bold"/>
              </a:rPr>
              <a:t>Business Impact:</a:t>
            </a:r>
          </a:p>
          <a:p>
            <a:pPr algn="just">
              <a:lnSpc>
                <a:spcPts val="3769"/>
              </a:lnSpc>
            </a:pPr>
            <a:r>
              <a:rPr lang="en-US" sz="2692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Efficient delivery performance contributes to customer satisfaction.</a:t>
            </a:r>
          </a:p>
          <a:p>
            <a:pPr algn="just">
              <a:lnSpc>
                <a:spcPts val="5104"/>
              </a:lnSpc>
            </a:pPr>
          </a:p>
          <a:p>
            <a:pPr algn="just">
              <a:lnSpc>
                <a:spcPts val="3761"/>
              </a:lnSpc>
            </a:pPr>
          </a:p>
          <a:p>
            <a:pPr algn="just">
              <a:lnSpc>
                <a:spcPts val="3761"/>
              </a:lnSpc>
            </a:pPr>
          </a:p>
          <a:p>
            <a:pPr algn="just">
              <a:lnSpc>
                <a:spcPts val="3761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565436" y="9239250"/>
            <a:ext cx="20019890" cy="0"/>
          </a:xfrm>
          <a:prstGeom prst="line">
            <a:avLst/>
          </a:prstGeom>
          <a:ln cap="flat" w="38100">
            <a:solidFill>
              <a:srgbClr val="2E6417"/>
            </a:solidFill>
            <a:prstDash val="solid"/>
            <a:headEnd type="diamond" len="lg" w="lg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flipV="true">
            <a:off x="624662" y="-18432980"/>
            <a:ext cx="0" cy="20019890"/>
          </a:xfrm>
          <a:prstGeom prst="line">
            <a:avLst/>
          </a:prstGeom>
          <a:ln cap="flat" w="38100">
            <a:solidFill>
              <a:srgbClr val="2E6417"/>
            </a:solidFill>
            <a:prstDash val="solid"/>
            <a:headEnd type="diamond" len="lg" w="lg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17259300" y="-1098298"/>
            <a:ext cx="1956277" cy="3390181"/>
            <a:chOff x="0" y="0"/>
            <a:chExt cx="2608370" cy="4520241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1358086"/>
              <a:ext cx="1870784" cy="3162155"/>
              <a:chOff x="0" y="0"/>
              <a:chExt cx="646431" cy="1092652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646431" cy="1092652"/>
              </a:xfrm>
              <a:custGeom>
                <a:avLst/>
                <a:gdLst/>
                <a:ahLst/>
                <a:cxnLst/>
                <a:rect r="r" b="b" t="t" l="l"/>
                <a:pathLst>
                  <a:path h="1092652" w="646431">
                    <a:moveTo>
                      <a:pt x="0" y="0"/>
                    </a:moveTo>
                    <a:lnTo>
                      <a:pt x="646431" y="0"/>
                    </a:lnTo>
                    <a:lnTo>
                      <a:pt x="646431" y="1092652"/>
                    </a:lnTo>
                    <a:lnTo>
                      <a:pt x="0" y="1092652"/>
                    </a:lnTo>
                    <a:close/>
                  </a:path>
                </a:pathLst>
              </a:custGeom>
              <a:solidFill>
                <a:srgbClr val="00BF63"/>
              </a:solidFill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38100"/>
                <a:ext cx="646431" cy="113075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8" id="8"/>
            <p:cNvGrpSpPr/>
            <p:nvPr/>
          </p:nvGrpSpPr>
          <p:grpSpPr>
            <a:xfrm rot="0">
              <a:off x="0" y="0"/>
              <a:ext cx="1870784" cy="3058816"/>
              <a:chOff x="0" y="0"/>
              <a:chExt cx="646431" cy="1056944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646431" cy="1056944"/>
              </a:xfrm>
              <a:custGeom>
                <a:avLst/>
                <a:gdLst/>
                <a:ahLst/>
                <a:cxnLst/>
                <a:rect r="r" b="b" t="t" l="l"/>
                <a:pathLst>
                  <a:path h="1056944" w="646431">
                    <a:moveTo>
                      <a:pt x="0" y="0"/>
                    </a:moveTo>
                    <a:lnTo>
                      <a:pt x="646431" y="0"/>
                    </a:lnTo>
                    <a:lnTo>
                      <a:pt x="646431" y="1056944"/>
                    </a:lnTo>
                    <a:lnTo>
                      <a:pt x="0" y="1056944"/>
                    </a:lnTo>
                    <a:close/>
                  </a:path>
                </a:pathLst>
              </a:custGeom>
              <a:solidFill>
                <a:srgbClr val="D9F4CD"/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646431" cy="109504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1" id="11"/>
            <p:cNvGrpSpPr/>
            <p:nvPr/>
          </p:nvGrpSpPr>
          <p:grpSpPr>
            <a:xfrm rot="0">
              <a:off x="737586" y="1358086"/>
              <a:ext cx="1870784" cy="3162155"/>
              <a:chOff x="0" y="0"/>
              <a:chExt cx="646431" cy="1092652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646431" cy="1092652"/>
              </a:xfrm>
              <a:custGeom>
                <a:avLst/>
                <a:gdLst/>
                <a:ahLst/>
                <a:cxnLst/>
                <a:rect r="r" b="b" t="t" l="l"/>
                <a:pathLst>
                  <a:path h="1092652" w="646431">
                    <a:moveTo>
                      <a:pt x="0" y="0"/>
                    </a:moveTo>
                    <a:lnTo>
                      <a:pt x="646431" y="0"/>
                    </a:lnTo>
                    <a:lnTo>
                      <a:pt x="646431" y="1092652"/>
                    </a:lnTo>
                    <a:lnTo>
                      <a:pt x="0" y="1092652"/>
                    </a:lnTo>
                    <a:close/>
                  </a:path>
                </a:pathLst>
              </a:custGeom>
              <a:solidFill>
                <a:srgbClr val="2E6417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38100"/>
                <a:ext cx="646431" cy="113075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14" id="14"/>
            <p:cNvGrpSpPr/>
            <p:nvPr/>
          </p:nvGrpSpPr>
          <p:grpSpPr>
            <a:xfrm rot="0">
              <a:off x="737586" y="0"/>
              <a:ext cx="1870784" cy="3058816"/>
              <a:chOff x="0" y="0"/>
              <a:chExt cx="646431" cy="1056944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646431" cy="1056944"/>
              </a:xfrm>
              <a:custGeom>
                <a:avLst/>
                <a:gdLst/>
                <a:ahLst/>
                <a:cxnLst/>
                <a:rect r="r" b="b" t="t" l="l"/>
                <a:pathLst>
                  <a:path h="1056944" w="646431">
                    <a:moveTo>
                      <a:pt x="0" y="0"/>
                    </a:moveTo>
                    <a:lnTo>
                      <a:pt x="646431" y="0"/>
                    </a:lnTo>
                    <a:lnTo>
                      <a:pt x="646431" y="1056944"/>
                    </a:lnTo>
                    <a:lnTo>
                      <a:pt x="0" y="1056944"/>
                    </a:lnTo>
                    <a:close/>
                  </a:path>
                </a:pathLst>
              </a:custGeom>
              <a:solidFill>
                <a:srgbClr val="7ED957"/>
              </a:solid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0" y="-38100"/>
                <a:ext cx="646431" cy="109504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Freeform 17" id="17"/>
          <p:cNvSpPr/>
          <p:nvPr/>
        </p:nvSpPr>
        <p:spPr>
          <a:xfrm flipH="false" flipV="false" rot="0">
            <a:off x="0" y="2558129"/>
            <a:ext cx="18288000" cy="6035040"/>
          </a:xfrm>
          <a:custGeom>
            <a:avLst/>
            <a:gdLst/>
            <a:ahLst/>
            <a:cxnLst/>
            <a:rect r="r" b="b" t="t" l="l"/>
            <a:pathLst>
              <a:path h="6035040" w="18288000">
                <a:moveTo>
                  <a:pt x="0" y="0"/>
                </a:moveTo>
                <a:lnTo>
                  <a:pt x="18288000" y="0"/>
                </a:lnTo>
                <a:lnTo>
                  <a:pt x="18288000" y="6035040"/>
                </a:lnTo>
                <a:lnTo>
                  <a:pt x="0" y="60350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565436" y="850989"/>
            <a:ext cx="8532387" cy="1440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83"/>
              </a:lnSpc>
            </a:pPr>
            <a:r>
              <a:rPr lang="en-US" sz="8003" b="true">
                <a:solidFill>
                  <a:srgbClr val="2E6417"/>
                </a:solidFill>
                <a:latin typeface="Karnchang SemiCondensed Bold"/>
                <a:ea typeface="Karnchang SemiCondensed Bold"/>
                <a:cs typeface="Karnchang SemiCondensed Bold"/>
                <a:sym typeface="Karnchang SemiCondensed Bold"/>
              </a:rPr>
              <a:t>The Dashboard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1EE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565436" y="9239250"/>
            <a:ext cx="20019890" cy="0"/>
          </a:xfrm>
          <a:prstGeom prst="line">
            <a:avLst/>
          </a:prstGeom>
          <a:ln cap="flat" w="38100">
            <a:solidFill>
              <a:srgbClr val="2E6417"/>
            </a:solidFill>
            <a:prstDash val="solid"/>
            <a:headEnd type="diamond" len="lg" w="lg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flipV="true">
            <a:off x="624662" y="-18432980"/>
            <a:ext cx="0" cy="20019890"/>
          </a:xfrm>
          <a:prstGeom prst="line">
            <a:avLst/>
          </a:prstGeom>
          <a:ln cap="flat" w="38100">
            <a:solidFill>
              <a:srgbClr val="2E6417"/>
            </a:solidFill>
            <a:prstDash val="solid"/>
            <a:headEnd type="diamond" len="lg" w="lg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16915866" y="-251526"/>
            <a:ext cx="1764194" cy="4014219"/>
            <a:chOff x="0" y="0"/>
            <a:chExt cx="812800" cy="18494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1849432"/>
            </a:xfrm>
            <a:custGeom>
              <a:avLst/>
              <a:gdLst/>
              <a:ahLst/>
              <a:cxnLst/>
              <a:rect r="r" b="b" t="t" l="l"/>
              <a:pathLst>
                <a:path h="184943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849432"/>
                  </a:lnTo>
                  <a:lnTo>
                    <a:pt x="0" y="1849432"/>
                  </a:lnTo>
                  <a:close/>
                </a:path>
              </a:pathLst>
            </a:custGeom>
            <a:solidFill>
              <a:srgbClr val="00BF63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812800" cy="18875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915866" y="-1975557"/>
            <a:ext cx="1764194" cy="3883035"/>
            <a:chOff x="0" y="0"/>
            <a:chExt cx="812800" cy="178899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1788993"/>
            </a:xfrm>
            <a:custGeom>
              <a:avLst/>
              <a:gdLst/>
              <a:ahLst/>
              <a:cxnLst/>
              <a:rect r="r" b="b" t="t" l="l"/>
              <a:pathLst>
                <a:path h="178899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788993"/>
                  </a:lnTo>
                  <a:lnTo>
                    <a:pt x="0" y="1788993"/>
                  </a:lnTo>
                  <a:close/>
                </a:path>
              </a:pathLst>
            </a:custGeom>
            <a:solidFill>
              <a:srgbClr val="E4FFC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812800" cy="1827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7611427" y="-251526"/>
            <a:ext cx="1764194" cy="4014219"/>
            <a:chOff x="0" y="0"/>
            <a:chExt cx="812800" cy="184943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1849432"/>
            </a:xfrm>
            <a:custGeom>
              <a:avLst/>
              <a:gdLst/>
              <a:ahLst/>
              <a:cxnLst/>
              <a:rect r="r" b="b" t="t" l="l"/>
              <a:pathLst>
                <a:path h="184943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849432"/>
                  </a:lnTo>
                  <a:lnTo>
                    <a:pt x="0" y="1849432"/>
                  </a:ln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812800" cy="18875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7611427" y="-1975557"/>
            <a:ext cx="1764194" cy="3883035"/>
            <a:chOff x="0" y="0"/>
            <a:chExt cx="812800" cy="178899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1788993"/>
            </a:xfrm>
            <a:custGeom>
              <a:avLst/>
              <a:gdLst/>
              <a:ahLst/>
              <a:cxnLst/>
              <a:rect r="r" b="b" t="t" l="l"/>
              <a:pathLst>
                <a:path h="178899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788993"/>
                  </a:lnTo>
                  <a:lnTo>
                    <a:pt x="0" y="1788993"/>
                  </a:lnTo>
                  <a:close/>
                </a:path>
              </a:pathLst>
            </a:custGeom>
            <a:solidFill>
              <a:srgbClr val="2E6417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812800" cy="1827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4565828" y="7044055"/>
            <a:ext cx="1849099" cy="2627919"/>
          </a:xfrm>
          <a:custGeom>
            <a:avLst/>
            <a:gdLst/>
            <a:ahLst/>
            <a:cxnLst/>
            <a:rect r="r" b="b" t="t" l="l"/>
            <a:pathLst>
              <a:path h="2627919" w="1849099">
                <a:moveTo>
                  <a:pt x="0" y="0"/>
                </a:moveTo>
                <a:lnTo>
                  <a:pt x="1849099" y="0"/>
                </a:lnTo>
                <a:lnTo>
                  <a:pt x="1849099" y="2627919"/>
                </a:lnTo>
                <a:lnTo>
                  <a:pt x="0" y="26279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565436" y="850989"/>
            <a:ext cx="12762654" cy="14472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83"/>
              </a:lnSpc>
            </a:pPr>
            <a:r>
              <a:rPr lang="en-US" sz="8003" b="true">
                <a:solidFill>
                  <a:srgbClr val="2E6417"/>
                </a:solidFill>
                <a:latin typeface="Karnchang SemiCondensed Bold"/>
                <a:ea typeface="Karnchang SemiCondensed Bold"/>
                <a:cs typeface="Karnchang SemiCondensed Bold"/>
                <a:sym typeface="Karnchang SemiCondensed Bold"/>
              </a:rPr>
              <a:t>Conclusion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565436" y="2780241"/>
            <a:ext cx="14959173" cy="5458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516"/>
              </a:lnSpc>
            </a:pPr>
            <a:r>
              <a:rPr lang="en-US" sz="4654" b="true">
                <a:solidFill>
                  <a:srgbClr val="2E6417"/>
                </a:solidFill>
                <a:latin typeface="Quark Bold"/>
                <a:ea typeface="Quark Bold"/>
                <a:cs typeface="Quark Bold"/>
                <a:sym typeface="Quark Bold"/>
              </a:rPr>
              <a:t>Project Outcomes:</a:t>
            </a:r>
          </a:p>
          <a:p>
            <a:pPr algn="just">
              <a:lnSpc>
                <a:spcPts val="5491"/>
              </a:lnSpc>
            </a:pPr>
            <a:r>
              <a:rPr lang="en-US" sz="3922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✅ Built an interactive financial dashboard</a:t>
            </a:r>
          </a:p>
          <a:p>
            <a:pPr algn="just">
              <a:lnSpc>
                <a:spcPts val="5491"/>
              </a:lnSpc>
            </a:pPr>
            <a:r>
              <a:rPr lang="en-US" sz="3922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✅ Performed data cleaning and modeling</a:t>
            </a:r>
          </a:p>
          <a:p>
            <a:pPr algn="just">
              <a:lnSpc>
                <a:spcPts val="5491"/>
              </a:lnSpc>
            </a:pPr>
            <a:r>
              <a:rPr lang="en-US" sz="3922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✅ Created KPIs and business insights</a:t>
            </a:r>
          </a:p>
          <a:p>
            <a:pPr algn="just">
              <a:lnSpc>
                <a:spcPts val="5491"/>
              </a:lnSpc>
            </a:pPr>
            <a:r>
              <a:rPr lang="en-US" sz="3922">
                <a:solidFill>
                  <a:srgbClr val="2E6417"/>
                </a:solidFill>
                <a:latin typeface="Quark"/>
                <a:ea typeface="Quark"/>
                <a:cs typeface="Quark"/>
                <a:sym typeface="Quark"/>
              </a:rPr>
              <a:t>✅ Enabled filtering through slicers and timeline controls</a:t>
            </a:r>
          </a:p>
          <a:p>
            <a:pPr algn="just">
              <a:lnSpc>
                <a:spcPts val="4931"/>
              </a:lnSpc>
            </a:pPr>
          </a:p>
          <a:p>
            <a:pPr algn="just">
              <a:lnSpc>
                <a:spcPts val="4931"/>
              </a:lnSpc>
            </a:pPr>
          </a:p>
          <a:p>
            <a:pPr algn="just">
              <a:lnSpc>
                <a:spcPts val="4931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565436" y="9239250"/>
            <a:ext cx="20019890" cy="0"/>
          </a:xfrm>
          <a:prstGeom prst="line">
            <a:avLst/>
          </a:prstGeom>
          <a:ln cap="flat" w="38100">
            <a:solidFill>
              <a:srgbClr val="2E6417"/>
            </a:solidFill>
            <a:prstDash val="solid"/>
            <a:headEnd type="diamond" len="lg" w="lg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flipV="true">
            <a:off x="624662" y="-18432980"/>
            <a:ext cx="0" cy="20019890"/>
          </a:xfrm>
          <a:prstGeom prst="line">
            <a:avLst/>
          </a:prstGeom>
          <a:ln cap="flat" w="38100">
            <a:solidFill>
              <a:srgbClr val="2E6417"/>
            </a:solidFill>
            <a:prstDash val="solid"/>
            <a:headEnd type="diamond" len="lg" w="lg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16042557" y="-380448"/>
            <a:ext cx="3086100" cy="7022063"/>
            <a:chOff x="0" y="0"/>
            <a:chExt cx="812800" cy="18494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1849432"/>
            </a:xfrm>
            <a:custGeom>
              <a:avLst/>
              <a:gdLst/>
              <a:ahLst/>
              <a:cxnLst/>
              <a:rect r="r" b="b" t="t" l="l"/>
              <a:pathLst>
                <a:path h="184943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849432"/>
                  </a:lnTo>
                  <a:lnTo>
                    <a:pt x="0" y="1849432"/>
                  </a:lnTo>
                  <a:close/>
                </a:path>
              </a:pathLst>
            </a:custGeom>
            <a:solidFill>
              <a:srgbClr val="00BF63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812800" cy="18875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6042557" y="-3396291"/>
            <a:ext cx="3086100" cy="6792583"/>
            <a:chOff x="0" y="0"/>
            <a:chExt cx="812800" cy="178899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1788993"/>
            </a:xfrm>
            <a:custGeom>
              <a:avLst/>
              <a:gdLst/>
              <a:ahLst/>
              <a:cxnLst/>
              <a:rect r="r" b="b" t="t" l="l"/>
              <a:pathLst>
                <a:path h="178899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788993"/>
                  </a:lnTo>
                  <a:lnTo>
                    <a:pt x="0" y="1788993"/>
                  </a:lnTo>
                  <a:close/>
                </a:path>
              </a:pathLst>
            </a:custGeom>
            <a:solidFill>
              <a:srgbClr val="E4FFC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812800" cy="1827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7259300" y="-380448"/>
            <a:ext cx="3086100" cy="7022063"/>
            <a:chOff x="0" y="0"/>
            <a:chExt cx="812800" cy="184943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1849432"/>
            </a:xfrm>
            <a:custGeom>
              <a:avLst/>
              <a:gdLst/>
              <a:ahLst/>
              <a:cxnLst/>
              <a:rect r="r" b="b" t="t" l="l"/>
              <a:pathLst>
                <a:path h="1849432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849432"/>
                  </a:lnTo>
                  <a:lnTo>
                    <a:pt x="0" y="1849432"/>
                  </a:lnTo>
                  <a:close/>
                </a:path>
              </a:pathLst>
            </a:custGeom>
            <a:solidFill>
              <a:srgbClr val="C1FF72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812800" cy="18875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7259300" y="-3396291"/>
            <a:ext cx="3086100" cy="6792583"/>
            <a:chOff x="0" y="0"/>
            <a:chExt cx="812800" cy="178899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1788993"/>
            </a:xfrm>
            <a:custGeom>
              <a:avLst/>
              <a:gdLst/>
              <a:ahLst/>
              <a:cxnLst/>
              <a:rect r="r" b="b" t="t" l="l"/>
              <a:pathLst>
                <a:path h="1788993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788993"/>
                  </a:lnTo>
                  <a:lnTo>
                    <a:pt x="0" y="1788993"/>
                  </a:lnTo>
                  <a:close/>
                </a:path>
              </a:pathLst>
            </a:custGeom>
            <a:solidFill>
              <a:srgbClr val="2E6417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812800" cy="1827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true" flipV="false" rot="0">
            <a:off x="3064867" y="6405372"/>
            <a:ext cx="3771794" cy="4199366"/>
          </a:xfrm>
          <a:custGeom>
            <a:avLst/>
            <a:gdLst/>
            <a:ahLst/>
            <a:cxnLst/>
            <a:rect r="r" b="b" t="t" l="l"/>
            <a:pathLst>
              <a:path h="4199366" w="3771794">
                <a:moveTo>
                  <a:pt x="3771794" y="0"/>
                </a:moveTo>
                <a:lnTo>
                  <a:pt x="0" y="0"/>
                </a:lnTo>
                <a:lnTo>
                  <a:pt x="0" y="4199365"/>
                </a:lnTo>
                <a:lnTo>
                  <a:pt x="3771794" y="4199365"/>
                </a:lnTo>
                <a:lnTo>
                  <a:pt x="3771794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565436" y="1325159"/>
            <a:ext cx="10390539" cy="37803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312"/>
              </a:lnSpc>
            </a:pPr>
            <a:r>
              <a:rPr lang="en-US" sz="12190" b="true">
                <a:solidFill>
                  <a:srgbClr val="2E6417"/>
                </a:solidFill>
                <a:latin typeface="Karnchang SemiCondensed Bold"/>
                <a:ea typeface="Karnchang SemiCondensed Bold"/>
                <a:cs typeface="Karnchang SemiCondensed Bold"/>
                <a:sym typeface="Karnchang SemiCondensed Bold"/>
              </a:rPr>
              <a:t>Thank You</a:t>
            </a:r>
          </a:p>
          <a:p>
            <a:pPr algn="l">
              <a:lnSpc>
                <a:spcPts val="12312"/>
              </a:lnSpc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DAHMky85Dak</dc:identifier>
  <dcterms:modified xsi:type="dcterms:W3CDTF">2011-08-01T06:04:30Z</dcterms:modified>
  <cp:revision>1</cp:revision>
  <dc:title>Monthly Financial Dashboard</dc:title>
</cp:coreProperties>
</file>